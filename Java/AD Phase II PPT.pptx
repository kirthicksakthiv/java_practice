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8" r:id="rId3"/>
    <p:sldId id="257" r:id="rId4"/>
    <p:sldId id="263" r:id="rId5"/>
    <p:sldId id="264" r:id="rId6"/>
    <p:sldId id="259" r:id="rId7"/>
    <p:sldId id="260" r:id="rId8"/>
    <p:sldId id="266" r:id="rId9"/>
    <p:sldId id="261" r:id="rId10"/>
    <p:sldId id="277" r:id="rId11"/>
    <p:sldId id="269" r:id="rId12"/>
    <p:sldId id="270" r:id="rId13"/>
    <p:sldId id="274" r:id="rId14"/>
    <p:sldId id="275" r:id="rId15"/>
    <p:sldId id="273" r:id="rId16"/>
    <p:sldId id="278" r:id="rId17"/>
    <p:sldId id="279" r:id="rId18"/>
    <p:sldId id="262" r:id="rId19"/>
    <p:sldId id="267" r:id="rId20"/>
    <p:sldId id="272" r:id="rId21"/>
    <p:sldId id="268" r:id="rId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204" autoAdjust="0"/>
    <p:restoredTop sz="94660"/>
  </p:normalViewPr>
  <p:slideViewPr>
    <p:cSldViewPr snapToGrid="0">
      <p:cViewPr varScale="1">
        <p:scale>
          <a:sx n="78" d="100"/>
          <a:sy n="78" d="100"/>
        </p:scale>
        <p:origin x="869"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8063F6-3A67-9D63-3175-320C32A4C67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1A13E53C-7DAF-9C69-3286-C06A6E86F25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B4697788-8199-8953-8554-16691E3A2B5D}"/>
              </a:ext>
            </a:extLst>
          </p:cNvPr>
          <p:cNvSpPr>
            <a:spLocks noGrp="1"/>
          </p:cNvSpPr>
          <p:nvPr>
            <p:ph type="dt" sz="half" idx="10"/>
          </p:nvPr>
        </p:nvSpPr>
        <p:spPr/>
        <p:txBody>
          <a:bodyPr/>
          <a:lstStyle/>
          <a:p>
            <a:fld id="{E03248AF-EFFE-4E13-9E58-447EE26071F3}" type="datetimeFigureOut">
              <a:rPr lang="en-IN" smtClean="0"/>
              <a:t>09-04-2025</a:t>
            </a:fld>
            <a:endParaRPr lang="en-IN"/>
          </a:p>
        </p:txBody>
      </p:sp>
      <p:sp>
        <p:nvSpPr>
          <p:cNvPr id="5" name="Footer Placeholder 4">
            <a:extLst>
              <a:ext uri="{FF2B5EF4-FFF2-40B4-BE49-F238E27FC236}">
                <a16:creationId xmlns:a16="http://schemas.microsoft.com/office/drawing/2014/main" id="{A2035B28-9AE1-1A52-3F15-90E0D147656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C9D742D-F086-1C59-3D38-C9F62BBE01FF}"/>
              </a:ext>
            </a:extLst>
          </p:cNvPr>
          <p:cNvSpPr>
            <a:spLocks noGrp="1"/>
          </p:cNvSpPr>
          <p:nvPr>
            <p:ph type="sldNum" sz="quarter" idx="12"/>
          </p:nvPr>
        </p:nvSpPr>
        <p:spPr/>
        <p:txBody>
          <a:bodyPr/>
          <a:lstStyle/>
          <a:p>
            <a:fld id="{3D4A264F-7DEF-4CD1-BD78-0623DCBC1ED0}" type="slidenum">
              <a:rPr lang="en-IN" smtClean="0"/>
              <a:t>‹#›</a:t>
            </a:fld>
            <a:endParaRPr lang="en-IN"/>
          </a:p>
        </p:txBody>
      </p:sp>
    </p:spTree>
    <p:extLst>
      <p:ext uri="{BB962C8B-B14F-4D97-AF65-F5344CB8AC3E}">
        <p14:creationId xmlns:p14="http://schemas.microsoft.com/office/powerpoint/2010/main" val="243509078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BD58C5-73F0-CD37-7982-B3F1A3DC5AF8}"/>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CE4218E6-9D0F-E9B7-3490-52C3E66CAAC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EE5E891-7942-ECEC-9BC6-E9851CBB169D}"/>
              </a:ext>
            </a:extLst>
          </p:cNvPr>
          <p:cNvSpPr>
            <a:spLocks noGrp="1"/>
          </p:cNvSpPr>
          <p:nvPr>
            <p:ph type="dt" sz="half" idx="10"/>
          </p:nvPr>
        </p:nvSpPr>
        <p:spPr/>
        <p:txBody>
          <a:bodyPr/>
          <a:lstStyle/>
          <a:p>
            <a:fld id="{E03248AF-EFFE-4E13-9E58-447EE26071F3}" type="datetimeFigureOut">
              <a:rPr lang="en-IN" smtClean="0"/>
              <a:t>09-04-2025</a:t>
            </a:fld>
            <a:endParaRPr lang="en-IN"/>
          </a:p>
        </p:txBody>
      </p:sp>
      <p:sp>
        <p:nvSpPr>
          <p:cNvPr id="5" name="Footer Placeholder 4">
            <a:extLst>
              <a:ext uri="{FF2B5EF4-FFF2-40B4-BE49-F238E27FC236}">
                <a16:creationId xmlns:a16="http://schemas.microsoft.com/office/drawing/2014/main" id="{C49B14D9-4519-3706-26F3-1F969C7D799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F9431B8-2732-8F97-F97B-4CEE8FD337AD}"/>
              </a:ext>
            </a:extLst>
          </p:cNvPr>
          <p:cNvSpPr>
            <a:spLocks noGrp="1"/>
          </p:cNvSpPr>
          <p:nvPr>
            <p:ph type="sldNum" sz="quarter" idx="12"/>
          </p:nvPr>
        </p:nvSpPr>
        <p:spPr/>
        <p:txBody>
          <a:bodyPr/>
          <a:lstStyle/>
          <a:p>
            <a:fld id="{3D4A264F-7DEF-4CD1-BD78-0623DCBC1ED0}" type="slidenum">
              <a:rPr lang="en-IN" smtClean="0"/>
              <a:t>‹#›</a:t>
            </a:fld>
            <a:endParaRPr lang="en-IN"/>
          </a:p>
        </p:txBody>
      </p:sp>
    </p:spTree>
    <p:extLst>
      <p:ext uri="{BB962C8B-B14F-4D97-AF65-F5344CB8AC3E}">
        <p14:creationId xmlns:p14="http://schemas.microsoft.com/office/powerpoint/2010/main" val="24749070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2E2A03-2AA3-DA2A-E854-D50519F8355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5264CEBA-09DA-AEC3-4926-73DA64A4A3A9}"/>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DBC56A6-F6F1-A7EA-39E1-6A3F657C82D7}"/>
              </a:ext>
            </a:extLst>
          </p:cNvPr>
          <p:cNvSpPr>
            <a:spLocks noGrp="1"/>
          </p:cNvSpPr>
          <p:nvPr>
            <p:ph type="dt" sz="half" idx="10"/>
          </p:nvPr>
        </p:nvSpPr>
        <p:spPr/>
        <p:txBody>
          <a:bodyPr/>
          <a:lstStyle/>
          <a:p>
            <a:fld id="{E03248AF-EFFE-4E13-9E58-447EE26071F3}" type="datetimeFigureOut">
              <a:rPr lang="en-IN" smtClean="0"/>
              <a:t>09-04-2025</a:t>
            </a:fld>
            <a:endParaRPr lang="en-IN"/>
          </a:p>
        </p:txBody>
      </p:sp>
      <p:sp>
        <p:nvSpPr>
          <p:cNvPr id="5" name="Footer Placeholder 4">
            <a:extLst>
              <a:ext uri="{FF2B5EF4-FFF2-40B4-BE49-F238E27FC236}">
                <a16:creationId xmlns:a16="http://schemas.microsoft.com/office/drawing/2014/main" id="{EBFEA30A-8E5F-931E-4575-A847BDC972D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0FDBAD4-E915-985A-56C8-349EAEAF72B0}"/>
              </a:ext>
            </a:extLst>
          </p:cNvPr>
          <p:cNvSpPr>
            <a:spLocks noGrp="1"/>
          </p:cNvSpPr>
          <p:nvPr>
            <p:ph type="sldNum" sz="quarter" idx="12"/>
          </p:nvPr>
        </p:nvSpPr>
        <p:spPr/>
        <p:txBody>
          <a:bodyPr/>
          <a:lstStyle/>
          <a:p>
            <a:fld id="{3D4A264F-7DEF-4CD1-BD78-0623DCBC1ED0}" type="slidenum">
              <a:rPr lang="en-IN" smtClean="0"/>
              <a:t>‹#›</a:t>
            </a:fld>
            <a:endParaRPr lang="en-IN"/>
          </a:p>
        </p:txBody>
      </p:sp>
    </p:spTree>
    <p:extLst>
      <p:ext uri="{BB962C8B-B14F-4D97-AF65-F5344CB8AC3E}">
        <p14:creationId xmlns:p14="http://schemas.microsoft.com/office/powerpoint/2010/main" val="376038604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C35BB5-81FD-4F78-AB40-C346FA42C460}"/>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020F8D1A-51CD-F1E0-0497-A270DD25FDEE}"/>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60A4C7C3-4A58-0791-AC87-A12B5F7A7B6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278A011E-9542-672B-4041-E5E4552135FF}"/>
              </a:ext>
            </a:extLst>
          </p:cNvPr>
          <p:cNvSpPr>
            <a:spLocks noGrp="1"/>
          </p:cNvSpPr>
          <p:nvPr>
            <p:ph type="dt" sz="half" idx="10"/>
          </p:nvPr>
        </p:nvSpPr>
        <p:spPr/>
        <p:txBody>
          <a:bodyPr/>
          <a:lstStyle/>
          <a:p>
            <a:fld id="{E03248AF-EFFE-4E13-9E58-447EE26071F3}" type="datetimeFigureOut">
              <a:rPr lang="en-IN" smtClean="0"/>
              <a:t>09-04-2025</a:t>
            </a:fld>
            <a:endParaRPr lang="en-IN"/>
          </a:p>
        </p:txBody>
      </p:sp>
      <p:sp>
        <p:nvSpPr>
          <p:cNvPr id="6" name="Footer Placeholder 5">
            <a:extLst>
              <a:ext uri="{FF2B5EF4-FFF2-40B4-BE49-F238E27FC236}">
                <a16:creationId xmlns:a16="http://schemas.microsoft.com/office/drawing/2014/main" id="{46D5623B-6FA7-0E48-E1D4-042F28872E41}"/>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139E7342-E7F1-B458-92E9-BF1CFDEF92CE}"/>
              </a:ext>
            </a:extLst>
          </p:cNvPr>
          <p:cNvSpPr>
            <a:spLocks noGrp="1"/>
          </p:cNvSpPr>
          <p:nvPr>
            <p:ph type="sldNum" sz="quarter" idx="12"/>
          </p:nvPr>
        </p:nvSpPr>
        <p:spPr/>
        <p:txBody>
          <a:bodyPr/>
          <a:lstStyle/>
          <a:p>
            <a:fld id="{3D4A264F-7DEF-4CD1-BD78-0623DCBC1ED0}" type="slidenum">
              <a:rPr lang="en-IN" smtClean="0"/>
              <a:t>‹#›</a:t>
            </a:fld>
            <a:endParaRPr lang="en-IN"/>
          </a:p>
        </p:txBody>
      </p:sp>
    </p:spTree>
    <p:extLst>
      <p:ext uri="{BB962C8B-B14F-4D97-AF65-F5344CB8AC3E}">
        <p14:creationId xmlns:p14="http://schemas.microsoft.com/office/powerpoint/2010/main" val="73877122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8959A1-9EA3-EF62-096A-E2577955CC2B}"/>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7328CC05-D08C-574E-8591-8EB59B37727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4B1C0BD-BB80-B9BE-1934-B0CE22F41DE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11DBB814-B431-BF60-A605-DBA39DDCA85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981478B-1B0C-B864-F77D-CC591C2E86D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813F9B42-D30E-4BD4-D085-8AE039E7B02E}"/>
              </a:ext>
            </a:extLst>
          </p:cNvPr>
          <p:cNvSpPr>
            <a:spLocks noGrp="1"/>
          </p:cNvSpPr>
          <p:nvPr>
            <p:ph type="dt" sz="half" idx="10"/>
          </p:nvPr>
        </p:nvSpPr>
        <p:spPr/>
        <p:txBody>
          <a:bodyPr/>
          <a:lstStyle/>
          <a:p>
            <a:fld id="{E03248AF-EFFE-4E13-9E58-447EE26071F3}" type="datetimeFigureOut">
              <a:rPr lang="en-IN" smtClean="0"/>
              <a:t>09-04-2025</a:t>
            </a:fld>
            <a:endParaRPr lang="en-IN"/>
          </a:p>
        </p:txBody>
      </p:sp>
      <p:sp>
        <p:nvSpPr>
          <p:cNvPr id="8" name="Footer Placeholder 7">
            <a:extLst>
              <a:ext uri="{FF2B5EF4-FFF2-40B4-BE49-F238E27FC236}">
                <a16:creationId xmlns:a16="http://schemas.microsoft.com/office/drawing/2014/main" id="{51833453-6425-1864-31D8-6CC2986F4772}"/>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7E70FEC7-849C-E171-11BB-8BC1689B503B}"/>
              </a:ext>
            </a:extLst>
          </p:cNvPr>
          <p:cNvSpPr>
            <a:spLocks noGrp="1"/>
          </p:cNvSpPr>
          <p:nvPr>
            <p:ph type="sldNum" sz="quarter" idx="12"/>
          </p:nvPr>
        </p:nvSpPr>
        <p:spPr/>
        <p:txBody>
          <a:bodyPr/>
          <a:lstStyle/>
          <a:p>
            <a:fld id="{3D4A264F-7DEF-4CD1-BD78-0623DCBC1ED0}" type="slidenum">
              <a:rPr lang="en-IN" smtClean="0"/>
              <a:t>‹#›</a:t>
            </a:fld>
            <a:endParaRPr lang="en-IN"/>
          </a:p>
        </p:txBody>
      </p:sp>
    </p:spTree>
    <p:extLst>
      <p:ext uri="{BB962C8B-B14F-4D97-AF65-F5344CB8AC3E}">
        <p14:creationId xmlns:p14="http://schemas.microsoft.com/office/powerpoint/2010/main" val="67171733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FC0304-799E-4C30-E487-9FFBFAC0F44E}"/>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1FFE6663-57D9-1A2D-54BC-7116C5C3955F}"/>
              </a:ext>
            </a:extLst>
          </p:cNvPr>
          <p:cNvSpPr>
            <a:spLocks noGrp="1"/>
          </p:cNvSpPr>
          <p:nvPr>
            <p:ph type="dt" sz="half" idx="10"/>
          </p:nvPr>
        </p:nvSpPr>
        <p:spPr/>
        <p:txBody>
          <a:bodyPr/>
          <a:lstStyle/>
          <a:p>
            <a:fld id="{E03248AF-EFFE-4E13-9E58-447EE26071F3}" type="datetimeFigureOut">
              <a:rPr lang="en-IN" smtClean="0"/>
              <a:t>09-04-2025</a:t>
            </a:fld>
            <a:endParaRPr lang="en-IN"/>
          </a:p>
        </p:txBody>
      </p:sp>
      <p:sp>
        <p:nvSpPr>
          <p:cNvPr id="4" name="Footer Placeholder 3">
            <a:extLst>
              <a:ext uri="{FF2B5EF4-FFF2-40B4-BE49-F238E27FC236}">
                <a16:creationId xmlns:a16="http://schemas.microsoft.com/office/drawing/2014/main" id="{07E08F68-2A53-F873-CF52-1A240A6CF0D6}"/>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D429BE36-1B64-9E87-645A-603822B50BC9}"/>
              </a:ext>
            </a:extLst>
          </p:cNvPr>
          <p:cNvSpPr>
            <a:spLocks noGrp="1"/>
          </p:cNvSpPr>
          <p:nvPr>
            <p:ph type="sldNum" sz="quarter" idx="12"/>
          </p:nvPr>
        </p:nvSpPr>
        <p:spPr/>
        <p:txBody>
          <a:bodyPr/>
          <a:lstStyle/>
          <a:p>
            <a:fld id="{3D4A264F-7DEF-4CD1-BD78-0623DCBC1ED0}" type="slidenum">
              <a:rPr lang="en-IN" smtClean="0"/>
              <a:t>‹#›</a:t>
            </a:fld>
            <a:endParaRPr lang="en-IN"/>
          </a:p>
        </p:txBody>
      </p:sp>
    </p:spTree>
    <p:extLst>
      <p:ext uri="{BB962C8B-B14F-4D97-AF65-F5344CB8AC3E}">
        <p14:creationId xmlns:p14="http://schemas.microsoft.com/office/powerpoint/2010/main" val="92740434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2C92369-579D-A4F9-4ADF-F06F37C60DB6}"/>
              </a:ext>
            </a:extLst>
          </p:cNvPr>
          <p:cNvSpPr>
            <a:spLocks noGrp="1"/>
          </p:cNvSpPr>
          <p:nvPr>
            <p:ph type="dt" sz="half" idx="10"/>
          </p:nvPr>
        </p:nvSpPr>
        <p:spPr/>
        <p:txBody>
          <a:bodyPr/>
          <a:lstStyle/>
          <a:p>
            <a:fld id="{E03248AF-EFFE-4E13-9E58-447EE26071F3}" type="datetimeFigureOut">
              <a:rPr lang="en-IN" smtClean="0"/>
              <a:t>09-04-2025</a:t>
            </a:fld>
            <a:endParaRPr lang="en-IN"/>
          </a:p>
        </p:txBody>
      </p:sp>
      <p:sp>
        <p:nvSpPr>
          <p:cNvPr id="3" name="Footer Placeholder 2">
            <a:extLst>
              <a:ext uri="{FF2B5EF4-FFF2-40B4-BE49-F238E27FC236}">
                <a16:creationId xmlns:a16="http://schemas.microsoft.com/office/drawing/2014/main" id="{D912D867-BD5B-5503-6C21-43EBDD7D8E20}"/>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DA7C2782-90EE-5403-12CF-EE9C387230C2}"/>
              </a:ext>
            </a:extLst>
          </p:cNvPr>
          <p:cNvSpPr>
            <a:spLocks noGrp="1"/>
          </p:cNvSpPr>
          <p:nvPr>
            <p:ph type="sldNum" sz="quarter" idx="12"/>
          </p:nvPr>
        </p:nvSpPr>
        <p:spPr/>
        <p:txBody>
          <a:bodyPr/>
          <a:lstStyle/>
          <a:p>
            <a:fld id="{3D4A264F-7DEF-4CD1-BD78-0623DCBC1ED0}" type="slidenum">
              <a:rPr lang="en-IN" smtClean="0"/>
              <a:t>‹#›</a:t>
            </a:fld>
            <a:endParaRPr lang="en-IN"/>
          </a:p>
        </p:txBody>
      </p:sp>
    </p:spTree>
    <p:extLst>
      <p:ext uri="{BB962C8B-B14F-4D97-AF65-F5344CB8AC3E}">
        <p14:creationId xmlns:p14="http://schemas.microsoft.com/office/powerpoint/2010/main" val="37470656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CCE8EA-AAEB-63C5-51D0-DDC6415728B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251EF1A3-EC5C-BE09-3A44-1874A23301D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616496F5-EFB4-4352-11FB-8D26E115763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CD981EE-C695-45D9-B7C1-45C05F304E15}"/>
              </a:ext>
            </a:extLst>
          </p:cNvPr>
          <p:cNvSpPr>
            <a:spLocks noGrp="1"/>
          </p:cNvSpPr>
          <p:nvPr>
            <p:ph type="dt" sz="half" idx="10"/>
          </p:nvPr>
        </p:nvSpPr>
        <p:spPr/>
        <p:txBody>
          <a:bodyPr/>
          <a:lstStyle/>
          <a:p>
            <a:fld id="{E03248AF-EFFE-4E13-9E58-447EE26071F3}" type="datetimeFigureOut">
              <a:rPr lang="en-IN" smtClean="0"/>
              <a:t>09-04-2025</a:t>
            </a:fld>
            <a:endParaRPr lang="en-IN"/>
          </a:p>
        </p:txBody>
      </p:sp>
      <p:sp>
        <p:nvSpPr>
          <p:cNvPr id="6" name="Footer Placeholder 5">
            <a:extLst>
              <a:ext uri="{FF2B5EF4-FFF2-40B4-BE49-F238E27FC236}">
                <a16:creationId xmlns:a16="http://schemas.microsoft.com/office/drawing/2014/main" id="{D3420E36-DADB-D0FF-6308-F1CFE69ACDB0}"/>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80E71D5A-091A-635C-DD65-E2FFC7C361AA}"/>
              </a:ext>
            </a:extLst>
          </p:cNvPr>
          <p:cNvSpPr>
            <a:spLocks noGrp="1"/>
          </p:cNvSpPr>
          <p:nvPr>
            <p:ph type="sldNum" sz="quarter" idx="12"/>
          </p:nvPr>
        </p:nvSpPr>
        <p:spPr/>
        <p:txBody>
          <a:bodyPr/>
          <a:lstStyle/>
          <a:p>
            <a:fld id="{3D4A264F-7DEF-4CD1-BD78-0623DCBC1ED0}" type="slidenum">
              <a:rPr lang="en-IN" smtClean="0"/>
              <a:t>‹#›</a:t>
            </a:fld>
            <a:endParaRPr lang="en-IN"/>
          </a:p>
        </p:txBody>
      </p:sp>
    </p:spTree>
    <p:extLst>
      <p:ext uri="{BB962C8B-B14F-4D97-AF65-F5344CB8AC3E}">
        <p14:creationId xmlns:p14="http://schemas.microsoft.com/office/powerpoint/2010/main" val="150672155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9B4F4A-69C3-4C27-0426-74C68124127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3C332FD6-4578-858F-D34E-92249D1E003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83E6D970-E959-EDEF-BE11-18AD5F48FF1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02867DC-3F9F-17B4-162E-F9694FF35762}"/>
              </a:ext>
            </a:extLst>
          </p:cNvPr>
          <p:cNvSpPr>
            <a:spLocks noGrp="1"/>
          </p:cNvSpPr>
          <p:nvPr>
            <p:ph type="dt" sz="half" idx="10"/>
          </p:nvPr>
        </p:nvSpPr>
        <p:spPr/>
        <p:txBody>
          <a:bodyPr/>
          <a:lstStyle/>
          <a:p>
            <a:fld id="{E03248AF-EFFE-4E13-9E58-447EE26071F3}" type="datetimeFigureOut">
              <a:rPr lang="en-IN" smtClean="0"/>
              <a:t>09-04-2025</a:t>
            </a:fld>
            <a:endParaRPr lang="en-IN"/>
          </a:p>
        </p:txBody>
      </p:sp>
      <p:sp>
        <p:nvSpPr>
          <p:cNvPr id="6" name="Footer Placeholder 5">
            <a:extLst>
              <a:ext uri="{FF2B5EF4-FFF2-40B4-BE49-F238E27FC236}">
                <a16:creationId xmlns:a16="http://schemas.microsoft.com/office/drawing/2014/main" id="{D2A3F414-AE1C-3C1B-762E-167A5971564F}"/>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7B5A29B0-51B6-5B0F-962A-978DCBD59A4B}"/>
              </a:ext>
            </a:extLst>
          </p:cNvPr>
          <p:cNvSpPr>
            <a:spLocks noGrp="1"/>
          </p:cNvSpPr>
          <p:nvPr>
            <p:ph type="sldNum" sz="quarter" idx="12"/>
          </p:nvPr>
        </p:nvSpPr>
        <p:spPr/>
        <p:txBody>
          <a:bodyPr/>
          <a:lstStyle/>
          <a:p>
            <a:fld id="{3D4A264F-7DEF-4CD1-BD78-0623DCBC1ED0}" type="slidenum">
              <a:rPr lang="en-IN" smtClean="0"/>
              <a:t>‹#›</a:t>
            </a:fld>
            <a:endParaRPr lang="en-IN"/>
          </a:p>
        </p:txBody>
      </p:sp>
    </p:spTree>
    <p:extLst>
      <p:ext uri="{BB962C8B-B14F-4D97-AF65-F5344CB8AC3E}">
        <p14:creationId xmlns:p14="http://schemas.microsoft.com/office/powerpoint/2010/main" val="174601465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B0CA89-81CE-6F17-D31B-4DCF8F5E6059}"/>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1B75FAB1-ECDA-0466-38B9-F4FAD91C5D5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BA34F1F-6484-2D9E-93D8-07191DD23479}"/>
              </a:ext>
            </a:extLst>
          </p:cNvPr>
          <p:cNvSpPr>
            <a:spLocks noGrp="1"/>
          </p:cNvSpPr>
          <p:nvPr>
            <p:ph type="dt" sz="half" idx="10"/>
          </p:nvPr>
        </p:nvSpPr>
        <p:spPr/>
        <p:txBody>
          <a:bodyPr/>
          <a:lstStyle/>
          <a:p>
            <a:fld id="{E03248AF-EFFE-4E13-9E58-447EE26071F3}" type="datetimeFigureOut">
              <a:rPr lang="en-IN" smtClean="0"/>
              <a:t>09-04-2025</a:t>
            </a:fld>
            <a:endParaRPr lang="en-IN"/>
          </a:p>
        </p:txBody>
      </p:sp>
      <p:sp>
        <p:nvSpPr>
          <p:cNvPr id="5" name="Footer Placeholder 4">
            <a:extLst>
              <a:ext uri="{FF2B5EF4-FFF2-40B4-BE49-F238E27FC236}">
                <a16:creationId xmlns:a16="http://schemas.microsoft.com/office/drawing/2014/main" id="{A0856254-813C-A2AF-D09A-3EC78EDE5DF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CFAF7D2-4706-BEE2-6538-4B4062B24558}"/>
              </a:ext>
            </a:extLst>
          </p:cNvPr>
          <p:cNvSpPr>
            <a:spLocks noGrp="1"/>
          </p:cNvSpPr>
          <p:nvPr>
            <p:ph type="sldNum" sz="quarter" idx="12"/>
          </p:nvPr>
        </p:nvSpPr>
        <p:spPr/>
        <p:txBody>
          <a:bodyPr/>
          <a:lstStyle/>
          <a:p>
            <a:fld id="{3D4A264F-7DEF-4CD1-BD78-0623DCBC1ED0}" type="slidenum">
              <a:rPr lang="en-IN" smtClean="0"/>
              <a:t>‹#›</a:t>
            </a:fld>
            <a:endParaRPr lang="en-IN"/>
          </a:p>
        </p:txBody>
      </p:sp>
    </p:spTree>
    <p:extLst>
      <p:ext uri="{BB962C8B-B14F-4D97-AF65-F5344CB8AC3E}">
        <p14:creationId xmlns:p14="http://schemas.microsoft.com/office/powerpoint/2010/main" val="36448569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1A2A272-03AD-B40C-2F6E-8181FA14401A}"/>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F68212FE-817E-F555-0986-A932A03BC89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3AF9B88-6F3D-95C0-FFD3-5FE1FCED3390}"/>
              </a:ext>
            </a:extLst>
          </p:cNvPr>
          <p:cNvSpPr>
            <a:spLocks noGrp="1"/>
          </p:cNvSpPr>
          <p:nvPr>
            <p:ph type="dt" sz="half" idx="10"/>
          </p:nvPr>
        </p:nvSpPr>
        <p:spPr/>
        <p:txBody>
          <a:bodyPr/>
          <a:lstStyle/>
          <a:p>
            <a:fld id="{E03248AF-EFFE-4E13-9E58-447EE26071F3}" type="datetimeFigureOut">
              <a:rPr lang="en-IN" smtClean="0"/>
              <a:t>09-04-2025</a:t>
            </a:fld>
            <a:endParaRPr lang="en-IN"/>
          </a:p>
        </p:txBody>
      </p:sp>
      <p:sp>
        <p:nvSpPr>
          <p:cNvPr id="5" name="Footer Placeholder 4">
            <a:extLst>
              <a:ext uri="{FF2B5EF4-FFF2-40B4-BE49-F238E27FC236}">
                <a16:creationId xmlns:a16="http://schemas.microsoft.com/office/drawing/2014/main" id="{839919B2-524E-102D-0A3E-E7C6584EF99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678582E-348D-DC4F-3A2C-E2077C6A2522}"/>
              </a:ext>
            </a:extLst>
          </p:cNvPr>
          <p:cNvSpPr>
            <a:spLocks noGrp="1"/>
          </p:cNvSpPr>
          <p:nvPr>
            <p:ph type="sldNum" sz="quarter" idx="12"/>
          </p:nvPr>
        </p:nvSpPr>
        <p:spPr/>
        <p:txBody>
          <a:bodyPr/>
          <a:lstStyle/>
          <a:p>
            <a:fld id="{3D4A264F-7DEF-4CD1-BD78-0623DCBC1ED0}" type="slidenum">
              <a:rPr lang="en-IN" smtClean="0"/>
              <a:t>‹#›</a:t>
            </a:fld>
            <a:endParaRPr lang="en-IN"/>
          </a:p>
        </p:txBody>
      </p:sp>
    </p:spTree>
    <p:extLst>
      <p:ext uri="{BB962C8B-B14F-4D97-AF65-F5344CB8AC3E}">
        <p14:creationId xmlns:p14="http://schemas.microsoft.com/office/powerpoint/2010/main" val="199314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88CA833-BE1A-2AB5-E4EA-B2487FF5C36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9172819F-918B-F58D-36A7-1868AFA688F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219F03B-225F-9061-1CFC-182CAC58893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03248AF-EFFE-4E13-9E58-447EE26071F3}" type="datetimeFigureOut">
              <a:rPr lang="en-IN" smtClean="0"/>
              <a:t>09-04-2025</a:t>
            </a:fld>
            <a:endParaRPr lang="en-IN"/>
          </a:p>
        </p:txBody>
      </p:sp>
      <p:sp>
        <p:nvSpPr>
          <p:cNvPr id="5" name="Footer Placeholder 4">
            <a:extLst>
              <a:ext uri="{FF2B5EF4-FFF2-40B4-BE49-F238E27FC236}">
                <a16:creationId xmlns:a16="http://schemas.microsoft.com/office/drawing/2014/main" id="{8F6CF4F0-60C2-8400-8B82-CDA8A7E1F43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C9A022A5-438A-BF0C-6111-BB87E9179E0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D4A264F-7DEF-4CD1-BD78-0623DCBC1ED0}" type="slidenum">
              <a:rPr lang="en-IN" smtClean="0"/>
              <a:t>‹#›</a:t>
            </a:fld>
            <a:endParaRPr lang="en-IN"/>
          </a:p>
        </p:txBody>
      </p:sp>
    </p:spTree>
    <p:extLst>
      <p:ext uri="{BB962C8B-B14F-4D97-AF65-F5344CB8AC3E}">
        <p14:creationId xmlns:p14="http://schemas.microsoft.com/office/powerpoint/2010/main" val="312295557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80DB07-56A2-900B-ED52-0D527B77828C}"/>
              </a:ext>
            </a:extLst>
          </p:cNvPr>
          <p:cNvSpPr>
            <a:spLocks noGrp="1"/>
          </p:cNvSpPr>
          <p:nvPr>
            <p:ph type="ctrTitle"/>
          </p:nvPr>
        </p:nvSpPr>
        <p:spPr>
          <a:xfrm>
            <a:off x="1524000" y="827396"/>
            <a:ext cx="9144000" cy="3491386"/>
          </a:xfrm>
        </p:spPr>
        <p:txBody>
          <a:bodyPr>
            <a:normAutofit fontScale="90000"/>
          </a:bodyPr>
          <a:lstStyle/>
          <a:p>
            <a:br>
              <a:rPr lang="en-US" sz="6000" b="1" dirty="0"/>
            </a:br>
            <a:br>
              <a:rPr lang="en-US" sz="6000" b="1" dirty="0"/>
            </a:br>
            <a:br>
              <a:rPr lang="en-US" sz="6000" b="1" dirty="0"/>
            </a:br>
            <a:br>
              <a:rPr lang="en-US" sz="6000" b="1" dirty="0"/>
            </a:br>
            <a:br>
              <a:rPr lang="en-US" sz="6000" b="1" dirty="0"/>
            </a:br>
            <a:br>
              <a:rPr lang="en-US" sz="6000" b="1" dirty="0"/>
            </a:br>
            <a:br>
              <a:rPr lang="en-US" sz="6000" b="1" dirty="0"/>
            </a:br>
            <a:br>
              <a:rPr lang="en-US" sz="6000" b="1" dirty="0"/>
            </a:br>
            <a:br>
              <a:rPr lang="en-US" sz="6000" b="1" dirty="0"/>
            </a:br>
            <a:br>
              <a:rPr lang="en-US" sz="6000" b="1" dirty="0"/>
            </a:br>
            <a:br>
              <a:rPr lang="en-US" sz="6000" b="1" dirty="0"/>
            </a:br>
            <a:br>
              <a:rPr lang="en-US" sz="6000" b="1" dirty="0"/>
            </a:br>
            <a:br>
              <a:rPr lang="en-US" sz="6000" b="1" dirty="0"/>
            </a:br>
            <a:br>
              <a:rPr lang="en-US" sz="6000" b="1" dirty="0"/>
            </a:br>
            <a:br>
              <a:rPr lang="en-US" sz="6000" b="1" dirty="0"/>
            </a:br>
            <a:br>
              <a:rPr lang="en-US" sz="6000" b="1" dirty="0"/>
            </a:br>
            <a:r>
              <a:rPr lang="en-US" sz="4900" b="1" dirty="0"/>
              <a:t>ALZHEIMER SYNDROME</a:t>
            </a:r>
            <a:br>
              <a:rPr lang="en-US" sz="4900" b="1" dirty="0"/>
            </a:br>
            <a:r>
              <a:rPr lang="en-US" sz="4900" b="1" dirty="0"/>
              <a:t> RECOGNITION USING DENSENET FOR MULTIMODAL ANALYSIS</a:t>
            </a:r>
            <a:endParaRPr lang="en-IN" sz="4900" b="1" dirty="0"/>
          </a:p>
        </p:txBody>
      </p:sp>
      <p:sp>
        <p:nvSpPr>
          <p:cNvPr id="3" name="Subtitle 2">
            <a:extLst>
              <a:ext uri="{FF2B5EF4-FFF2-40B4-BE49-F238E27FC236}">
                <a16:creationId xmlns:a16="http://schemas.microsoft.com/office/drawing/2014/main" id="{31949C86-30BC-F782-DAAD-FE8C7176E12D}"/>
              </a:ext>
            </a:extLst>
          </p:cNvPr>
          <p:cNvSpPr>
            <a:spLocks noGrp="1"/>
          </p:cNvSpPr>
          <p:nvPr>
            <p:ph type="subTitle" idx="1"/>
          </p:nvPr>
        </p:nvSpPr>
        <p:spPr>
          <a:xfrm>
            <a:off x="629264" y="4670473"/>
            <a:ext cx="10953136" cy="1856935"/>
          </a:xfrm>
        </p:spPr>
        <p:txBody>
          <a:bodyPr>
            <a:normAutofit/>
          </a:bodyPr>
          <a:lstStyle/>
          <a:p>
            <a:pPr algn="l"/>
            <a:r>
              <a:rPr lang="en-IN" dirty="0"/>
              <a:t>            TEAM MEMBERS                                                                           GUIDED BY </a:t>
            </a:r>
          </a:p>
          <a:p>
            <a:pPr algn="l"/>
            <a:r>
              <a:rPr lang="en-IN" dirty="0"/>
              <a:t>    KIRTHICK SAKTHI V (21CS046)                                                  </a:t>
            </a:r>
            <a:r>
              <a:rPr lang="en-US" dirty="0"/>
              <a:t>Mrs. S. SUJITHA  AP/CSE</a:t>
            </a:r>
            <a:endParaRPr lang="en-IN" dirty="0"/>
          </a:p>
          <a:p>
            <a:pPr algn="l"/>
            <a:r>
              <a:rPr lang="en-IN" dirty="0"/>
              <a:t>    MANIKANDAN L (21CS055)</a:t>
            </a:r>
          </a:p>
          <a:p>
            <a:pPr algn="l"/>
            <a:r>
              <a:rPr lang="en-IN" dirty="0"/>
              <a:t>    MANOJKUMAR K (21CS056)</a:t>
            </a:r>
          </a:p>
        </p:txBody>
      </p:sp>
      <p:pic>
        <p:nvPicPr>
          <p:cNvPr id="6" name="Google Shape;180;p1">
            <a:extLst>
              <a:ext uri="{FF2B5EF4-FFF2-40B4-BE49-F238E27FC236}">
                <a16:creationId xmlns:a16="http://schemas.microsoft.com/office/drawing/2014/main" id="{0EF08D06-882A-C0E6-B014-AA205A8CC980}"/>
              </a:ext>
            </a:extLst>
          </p:cNvPr>
          <p:cNvPicPr preferRelativeResize="0"/>
          <p:nvPr/>
        </p:nvPicPr>
        <p:blipFill rotWithShape="1">
          <a:blip r:embed="rId2">
            <a:alphaModFix/>
          </a:blip>
          <a:srcRect/>
          <a:stretch/>
        </p:blipFill>
        <p:spPr>
          <a:xfrm>
            <a:off x="1460057" y="461524"/>
            <a:ext cx="9130187" cy="1835627"/>
          </a:xfrm>
          <a:prstGeom prst="rect">
            <a:avLst/>
          </a:prstGeom>
          <a:noFill/>
          <a:ln>
            <a:noFill/>
          </a:ln>
        </p:spPr>
      </p:pic>
    </p:spTree>
    <p:extLst>
      <p:ext uri="{BB962C8B-B14F-4D97-AF65-F5344CB8AC3E}">
        <p14:creationId xmlns:p14="http://schemas.microsoft.com/office/powerpoint/2010/main" val="182869401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E886C0-FB55-5D80-B9C3-8A36901F64C6}"/>
              </a:ext>
            </a:extLst>
          </p:cNvPr>
          <p:cNvSpPr>
            <a:spLocks noGrp="1"/>
          </p:cNvSpPr>
          <p:nvPr>
            <p:ph type="title"/>
          </p:nvPr>
        </p:nvSpPr>
        <p:spPr/>
        <p:txBody>
          <a:bodyPr/>
          <a:lstStyle/>
          <a:p>
            <a:pPr algn="ctr"/>
            <a:r>
              <a:rPr lang="en-US" b="1" dirty="0"/>
              <a:t>OBJECTIVE</a:t>
            </a:r>
            <a:endParaRPr lang="en-IN" b="1" dirty="0"/>
          </a:p>
        </p:txBody>
      </p:sp>
      <p:sp>
        <p:nvSpPr>
          <p:cNvPr id="3" name="Content Placeholder 2">
            <a:extLst>
              <a:ext uri="{FF2B5EF4-FFF2-40B4-BE49-F238E27FC236}">
                <a16:creationId xmlns:a16="http://schemas.microsoft.com/office/drawing/2014/main" id="{1A696994-0963-88F0-98CC-F71EF665FA2B}"/>
              </a:ext>
            </a:extLst>
          </p:cNvPr>
          <p:cNvSpPr>
            <a:spLocks noGrp="1"/>
          </p:cNvSpPr>
          <p:nvPr>
            <p:ph idx="1"/>
          </p:nvPr>
        </p:nvSpPr>
        <p:spPr>
          <a:xfrm>
            <a:off x="838200" y="1609316"/>
            <a:ext cx="10515600" cy="4351338"/>
          </a:xfrm>
        </p:spPr>
        <p:txBody>
          <a:bodyPr>
            <a:normAutofit/>
          </a:bodyPr>
          <a:lstStyle/>
          <a:p>
            <a:pPr algn="just">
              <a:lnSpc>
                <a:spcPct val="150000"/>
              </a:lnSpc>
            </a:pPr>
            <a:r>
              <a:rPr lang="en-US" sz="2400" dirty="0"/>
              <a:t>To accurately predicting a model for Alzheimer's disease using a multimodal dataset that integrates various clinical, neuroimaging, and genetic features.</a:t>
            </a:r>
          </a:p>
          <a:p>
            <a:pPr algn="just">
              <a:lnSpc>
                <a:spcPct val="150000"/>
              </a:lnSpc>
            </a:pPr>
            <a:r>
              <a:rPr lang="en-US" sz="2400" dirty="0"/>
              <a:t>To develop tools that can predict who might be at higher risk. With these predictions, able to identify individuals symptoms before appear.</a:t>
            </a:r>
          </a:p>
          <a:p>
            <a:pPr algn="just">
              <a:lnSpc>
                <a:spcPct val="150000"/>
              </a:lnSpc>
            </a:pPr>
            <a:r>
              <a:rPr lang="en-US" sz="2400" dirty="0"/>
              <a:t>To start early interventions, such as treatments or lifestyle changes, to help delay or prevent the disease and improve quality of life.</a:t>
            </a:r>
          </a:p>
          <a:p>
            <a:pPr algn="just">
              <a:lnSpc>
                <a:spcPct val="150000"/>
              </a:lnSpc>
            </a:pPr>
            <a:r>
              <a:rPr lang="en-US" sz="2400" dirty="0"/>
              <a:t>To improve early detection and imaging technologies like MRI, PET, and CT scans.</a:t>
            </a:r>
          </a:p>
          <a:p>
            <a:pPr marL="0" indent="0" algn="just">
              <a:lnSpc>
                <a:spcPct val="150000"/>
              </a:lnSpc>
              <a:buNone/>
            </a:pPr>
            <a:endParaRPr lang="en-US" sz="2400" dirty="0"/>
          </a:p>
          <a:p>
            <a:pPr>
              <a:lnSpc>
                <a:spcPct val="150000"/>
              </a:lnSpc>
            </a:pPr>
            <a:endParaRPr lang="en-US" dirty="0"/>
          </a:p>
          <a:p>
            <a:pPr marL="0" indent="0">
              <a:lnSpc>
                <a:spcPct val="100000"/>
              </a:lnSpc>
              <a:buNone/>
            </a:pPr>
            <a:endParaRPr lang="en-IN" dirty="0"/>
          </a:p>
        </p:txBody>
      </p:sp>
    </p:spTree>
    <p:extLst>
      <p:ext uri="{BB962C8B-B14F-4D97-AF65-F5344CB8AC3E}">
        <p14:creationId xmlns:p14="http://schemas.microsoft.com/office/powerpoint/2010/main" val="100528389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105942-2C76-F422-7584-5BA0EE28F5B6}"/>
              </a:ext>
            </a:extLst>
          </p:cNvPr>
          <p:cNvSpPr>
            <a:spLocks noGrp="1"/>
          </p:cNvSpPr>
          <p:nvPr>
            <p:ph type="title"/>
          </p:nvPr>
        </p:nvSpPr>
        <p:spPr/>
        <p:txBody>
          <a:bodyPr/>
          <a:lstStyle/>
          <a:p>
            <a:r>
              <a:rPr lang="en-US" b="1" dirty="0"/>
              <a:t>				   ABSTRACT</a:t>
            </a:r>
            <a:endParaRPr lang="en-IN" b="1" dirty="0"/>
          </a:p>
        </p:txBody>
      </p:sp>
      <p:sp>
        <p:nvSpPr>
          <p:cNvPr id="3" name="Content Placeholder 2">
            <a:extLst>
              <a:ext uri="{FF2B5EF4-FFF2-40B4-BE49-F238E27FC236}">
                <a16:creationId xmlns:a16="http://schemas.microsoft.com/office/drawing/2014/main" id="{4276AA6F-9A12-8BBA-68F6-605743742213}"/>
              </a:ext>
            </a:extLst>
          </p:cNvPr>
          <p:cNvSpPr>
            <a:spLocks noGrp="1"/>
          </p:cNvSpPr>
          <p:nvPr>
            <p:ph idx="1"/>
          </p:nvPr>
        </p:nvSpPr>
        <p:spPr>
          <a:xfrm>
            <a:off x="838200" y="1690687"/>
            <a:ext cx="10515600" cy="4431333"/>
          </a:xfrm>
        </p:spPr>
        <p:txBody>
          <a:bodyPr>
            <a:noAutofit/>
          </a:bodyPr>
          <a:lstStyle/>
          <a:p>
            <a:pPr algn="just">
              <a:lnSpc>
                <a:spcPct val="150000"/>
              </a:lnSpc>
            </a:pPr>
            <a:r>
              <a:rPr lang="en-US" sz="2000" dirty="0"/>
              <a:t>Alzheimer's syndrome is classified using a deep learning-based leverages MRI brain images. By utilizing a pre-trained </a:t>
            </a:r>
            <a:r>
              <a:rPr lang="en-US" sz="2000" dirty="0" err="1"/>
              <a:t>DenseNet</a:t>
            </a:r>
            <a:r>
              <a:rPr lang="en-US" sz="2000" dirty="0"/>
              <a:t> model, it classifies brain scans into four categories: Non-Demented, Very Mild Demented, Mild Demented, and Moderate Demented.</a:t>
            </a:r>
          </a:p>
          <a:p>
            <a:pPr algn="just">
              <a:lnSpc>
                <a:spcPct val="150000"/>
              </a:lnSpc>
            </a:pPr>
            <a:r>
              <a:rPr lang="en-US" sz="2000" dirty="0"/>
              <a:t>Convolutional Neural Networks play a crucial role in Alzheimer's Syndrome diagnosis through MRI scan analysis. </a:t>
            </a:r>
          </a:p>
          <a:p>
            <a:pPr algn="just">
              <a:lnSpc>
                <a:spcPct val="150000"/>
              </a:lnSpc>
            </a:pPr>
            <a:r>
              <a:rPr lang="en-US" sz="2000" dirty="0"/>
              <a:t>A disease is identified in multimodal analysis by integrating different data types, like medical imaging, genetic information, analyzing 3D/2D images, MRI, and PET scans. </a:t>
            </a:r>
          </a:p>
          <a:p>
            <a:pPr algn="just">
              <a:lnSpc>
                <a:spcPct val="150000"/>
              </a:lnSpc>
            </a:pPr>
            <a:r>
              <a:rPr lang="en-US" sz="2000" dirty="0"/>
              <a:t>A deep learning model is proposed for Alzheimer's disease prediction, integrating multimodal imaging, accurate diagnosis, classify the stage of the disease and improve accuracy.</a:t>
            </a:r>
          </a:p>
          <a:p>
            <a:pPr algn="just">
              <a:lnSpc>
                <a:spcPct val="150000"/>
              </a:lnSpc>
            </a:pPr>
            <a:endParaRPr lang="en-US" sz="2100" dirty="0"/>
          </a:p>
          <a:p>
            <a:pPr algn="just">
              <a:lnSpc>
                <a:spcPct val="150000"/>
              </a:lnSpc>
            </a:pPr>
            <a:endParaRPr lang="en-US" sz="2100" dirty="0"/>
          </a:p>
        </p:txBody>
      </p:sp>
    </p:spTree>
    <p:extLst>
      <p:ext uri="{BB962C8B-B14F-4D97-AF65-F5344CB8AC3E}">
        <p14:creationId xmlns:p14="http://schemas.microsoft.com/office/powerpoint/2010/main" val="87729646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F67CCB-7052-ACB4-EECF-AC0D9738A6D1}"/>
              </a:ext>
            </a:extLst>
          </p:cNvPr>
          <p:cNvSpPr>
            <a:spLocks noGrp="1"/>
          </p:cNvSpPr>
          <p:nvPr>
            <p:ph type="title"/>
          </p:nvPr>
        </p:nvSpPr>
        <p:spPr>
          <a:xfrm>
            <a:off x="838200" y="148816"/>
            <a:ext cx="10515600" cy="1011391"/>
          </a:xfrm>
        </p:spPr>
        <p:txBody>
          <a:bodyPr>
            <a:normAutofit/>
          </a:bodyPr>
          <a:lstStyle/>
          <a:p>
            <a:r>
              <a:rPr lang="en-IN" sz="4400" b="1" dirty="0"/>
              <a:t>			   LITERATURE SURVEY</a:t>
            </a:r>
            <a:endParaRPr lang="en-IN" dirty="0"/>
          </a:p>
        </p:txBody>
      </p:sp>
      <p:graphicFrame>
        <p:nvGraphicFramePr>
          <p:cNvPr id="4" name="Table 3">
            <a:extLst>
              <a:ext uri="{FF2B5EF4-FFF2-40B4-BE49-F238E27FC236}">
                <a16:creationId xmlns:a16="http://schemas.microsoft.com/office/drawing/2014/main" id="{927D69F8-D7D3-1340-D0AA-C8817DCB51AC}"/>
              </a:ext>
            </a:extLst>
          </p:cNvPr>
          <p:cNvGraphicFramePr>
            <a:graphicFrameLocks noGrp="1"/>
          </p:cNvGraphicFramePr>
          <p:nvPr>
            <p:extLst>
              <p:ext uri="{D42A27DB-BD31-4B8C-83A1-F6EECF244321}">
                <p14:modId xmlns:p14="http://schemas.microsoft.com/office/powerpoint/2010/main" val="2826374393"/>
              </p:ext>
            </p:extLst>
          </p:nvPr>
        </p:nvGraphicFramePr>
        <p:xfrm>
          <a:off x="979538" y="968582"/>
          <a:ext cx="10232923" cy="5461385"/>
        </p:xfrm>
        <a:graphic>
          <a:graphicData uri="http://schemas.openxmlformats.org/drawingml/2006/table">
            <a:tbl>
              <a:tblPr firstRow="1" bandRow="1">
                <a:tableStyleId>{5C22544A-7EE6-4342-B048-85BDC9FD1C3A}</a:tableStyleId>
              </a:tblPr>
              <a:tblGrid>
                <a:gridCol w="2996323">
                  <a:extLst>
                    <a:ext uri="{9D8B030D-6E8A-4147-A177-3AD203B41FA5}">
                      <a16:colId xmlns:a16="http://schemas.microsoft.com/office/drawing/2014/main" val="2102848486"/>
                    </a:ext>
                  </a:extLst>
                </a:gridCol>
                <a:gridCol w="1752361">
                  <a:extLst>
                    <a:ext uri="{9D8B030D-6E8A-4147-A177-3AD203B41FA5}">
                      <a16:colId xmlns:a16="http://schemas.microsoft.com/office/drawing/2014/main" val="420311303"/>
                    </a:ext>
                  </a:extLst>
                </a:gridCol>
                <a:gridCol w="1903799">
                  <a:extLst>
                    <a:ext uri="{9D8B030D-6E8A-4147-A177-3AD203B41FA5}">
                      <a16:colId xmlns:a16="http://schemas.microsoft.com/office/drawing/2014/main" val="2301321813"/>
                    </a:ext>
                  </a:extLst>
                </a:gridCol>
                <a:gridCol w="1471117">
                  <a:extLst>
                    <a:ext uri="{9D8B030D-6E8A-4147-A177-3AD203B41FA5}">
                      <a16:colId xmlns:a16="http://schemas.microsoft.com/office/drawing/2014/main" val="1353392388"/>
                    </a:ext>
                  </a:extLst>
                </a:gridCol>
                <a:gridCol w="2109323">
                  <a:extLst>
                    <a:ext uri="{9D8B030D-6E8A-4147-A177-3AD203B41FA5}">
                      <a16:colId xmlns:a16="http://schemas.microsoft.com/office/drawing/2014/main" val="142059139"/>
                    </a:ext>
                  </a:extLst>
                </a:gridCol>
              </a:tblGrid>
              <a:tr h="759358">
                <a:tc>
                  <a:txBody>
                    <a:bodyPr/>
                    <a:lstStyle/>
                    <a:p>
                      <a:endParaRPr lang="en-IN" dirty="0"/>
                    </a:p>
                    <a:p>
                      <a:r>
                        <a:rPr lang="en-IN" dirty="0"/>
                        <a:t>    Paper Title</a:t>
                      </a:r>
                    </a:p>
                  </a:txBody>
                  <a:tcPr/>
                </a:tc>
                <a:tc>
                  <a:txBody>
                    <a:bodyPr/>
                    <a:lstStyle/>
                    <a:p>
                      <a:endParaRPr lang="en-IN" dirty="0"/>
                    </a:p>
                    <a:p>
                      <a:r>
                        <a:rPr lang="en-IN" dirty="0"/>
                        <a:t>      Author</a:t>
                      </a:r>
                    </a:p>
                  </a:txBody>
                  <a:tcPr/>
                </a:tc>
                <a:tc>
                  <a:txBody>
                    <a:bodyPr/>
                    <a:lstStyle/>
                    <a:p>
                      <a:endParaRPr lang="en-IN" dirty="0"/>
                    </a:p>
                    <a:p>
                      <a:r>
                        <a:rPr lang="en-IN" dirty="0"/>
                        <a:t> Journal Name</a:t>
                      </a:r>
                    </a:p>
                  </a:txBody>
                  <a:tcPr/>
                </a:tc>
                <a:tc>
                  <a:txBody>
                    <a:bodyPr/>
                    <a:lstStyle/>
                    <a:p>
                      <a:endParaRPr lang="en-IN" dirty="0"/>
                    </a:p>
                    <a:p>
                      <a:r>
                        <a:rPr lang="en-IN" dirty="0"/>
                        <a:t>         Year</a:t>
                      </a:r>
                    </a:p>
                  </a:txBody>
                  <a:tcPr/>
                </a:tc>
                <a:tc>
                  <a:txBody>
                    <a:bodyPr/>
                    <a:lstStyle/>
                    <a:p>
                      <a:endParaRPr lang="en-IN" dirty="0"/>
                    </a:p>
                    <a:p>
                      <a:r>
                        <a:rPr lang="en-IN" dirty="0"/>
                        <a:t>    Key Points</a:t>
                      </a:r>
                    </a:p>
                  </a:txBody>
                  <a:tcPr/>
                </a:tc>
                <a:extLst>
                  <a:ext uri="{0D108BD9-81ED-4DB2-BD59-A6C34878D82A}">
                    <a16:rowId xmlns:a16="http://schemas.microsoft.com/office/drawing/2014/main" val="1404210103"/>
                  </a:ext>
                </a:extLst>
              </a:tr>
              <a:tr h="115852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500" b="0" i="0" u="none" strike="noStrike" baseline="0" dirty="0">
                          <a:latin typeface="Calibri (Body)"/>
                        </a:rPr>
                        <a:t>Alzheimer’s Disease and Mild Cognitive Impairment Detection Using MRI With Efficient Receptive Field and Enhanced </a:t>
                      </a:r>
                      <a:r>
                        <a:rPr lang="en-IN" sz="1500" b="0" i="0" u="none" strike="noStrike" baseline="0" dirty="0">
                          <a:latin typeface="Calibri (Body)"/>
                        </a:rPr>
                        <a:t>Multi-Axis Attention Fusion.</a:t>
                      </a:r>
                      <a:endParaRPr lang="en-IN" sz="1500" dirty="0">
                        <a:latin typeface="Calibri (Body)"/>
                      </a:endParaRPr>
                    </a:p>
                  </a:txBody>
                  <a:tcPr/>
                </a:tc>
                <a:tc>
                  <a:txBody>
                    <a:bodyPr/>
                    <a:lstStyle/>
                    <a:p>
                      <a:endParaRPr lang="en-IN" sz="1500" dirty="0"/>
                    </a:p>
                    <a:p>
                      <a:endParaRPr lang="en-IN" sz="1500" dirty="0"/>
                    </a:p>
                    <a:p>
                      <a:r>
                        <a:rPr lang="en-IN" sz="1500" dirty="0"/>
                        <a:t>UTTAM KHATRI</a:t>
                      </a:r>
                    </a:p>
                  </a:txBody>
                  <a:tcPr/>
                </a:tc>
                <a:tc>
                  <a:txBody>
                    <a:bodyPr/>
                    <a:lstStyle/>
                    <a:p>
                      <a:r>
                        <a:rPr lang="en-US" sz="1500" dirty="0"/>
                        <a:t>IEEE Journal of Biomedical and Health Informatics.</a:t>
                      </a:r>
                      <a:endParaRPr lang="en-IN" sz="1500" dirty="0"/>
                    </a:p>
                  </a:txBody>
                  <a:tcPr/>
                </a:tc>
                <a:tc>
                  <a:txBody>
                    <a:bodyPr/>
                    <a:lstStyle/>
                    <a:p>
                      <a:endParaRPr lang="en-IN" sz="1500" dirty="0"/>
                    </a:p>
                    <a:p>
                      <a:r>
                        <a:rPr lang="en-IN" sz="1500" dirty="0"/>
                        <a:t>       2024</a:t>
                      </a:r>
                    </a:p>
                  </a:txBody>
                  <a:tcPr/>
                </a:tc>
                <a:tc>
                  <a:txBody>
                    <a:bodyPr/>
                    <a:lstStyle/>
                    <a:p>
                      <a:r>
                        <a:rPr lang="en-US" sz="1500" dirty="0"/>
                        <a:t>Detect Alzheimer's and Mild Cognitive Impairment early.</a:t>
                      </a:r>
                      <a:endParaRPr lang="en-IN" sz="1500" dirty="0"/>
                    </a:p>
                  </a:txBody>
                  <a:tcPr/>
                </a:tc>
                <a:extLst>
                  <a:ext uri="{0D108BD9-81ED-4DB2-BD59-A6C34878D82A}">
                    <a16:rowId xmlns:a16="http://schemas.microsoft.com/office/drawing/2014/main" val="1444189948"/>
                  </a:ext>
                </a:extLst>
              </a:tr>
              <a:tr h="606010">
                <a:tc>
                  <a:txBody>
                    <a:bodyPr/>
                    <a:lstStyle/>
                    <a:p>
                      <a:r>
                        <a:rPr lang="en-US" sz="1500" dirty="0"/>
                        <a:t>Multimodal 3D Deep Learning for Early Diagnosis of Alzheimer’s Disease.</a:t>
                      </a:r>
                      <a:endParaRPr lang="en-IN" sz="1500" dirty="0"/>
                    </a:p>
                  </a:txBody>
                  <a:tcPr/>
                </a:tc>
                <a:tc>
                  <a:txBody>
                    <a:bodyPr/>
                    <a:lstStyle/>
                    <a:p>
                      <a:endParaRPr lang="en-IN" sz="1600" dirty="0"/>
                    </a:p>
                    <a:p>
                      <a:r>
                        <a:rPr lang="en-IN" sz="1600" dirty="0"/>
                        <a:t>SEUNG KYU KIM</a:t>
                      </a:r>
                      <a:endParaRPr lang="en-IN" sz="1500" dirty="0"/>
                    </a:p>
                  </a:txBody>
                  <a:tcPr/>
                </a:tc>
                <a:tc>
                  <a:txBody>
                    <a:bodyPr/>
                    <a:lstStyle/>
                    <a:p>
                      <a:r>
                        <a:rPr lang="en-US" sz="1500" dirty="0"/>
                        <a:t>IEEE Transactions on Neural Networks and Learning Systems</a:t>
                      </a:r>
                      <a:endParaRPr lang="en-IN" sz="1500" dirty="0"/>
                    </a:p>
                  </a:txBody>
                  <a:tcPr/>
                </a:tc>
                <a:tc>
                  <a:txBody>
                    <a:bodyPr/>
                    <a:lstStyle/>
                    <a:p>
                      <a:r>
                        <a:rPr lang="en-IN" sz="1500" dirty="0"/>
                        <a:t>       </a:t>
                      </a:r>
                    </a:p>
                    <a:p>
                      <a:r>
                        <a:rPr lang="en-IN" sz="1500" dirty="0"/>
                        <a:t>       2024</a:t>
                      </a:r>
                    </a:p>
                  </a:txBody>
                  <a:tcPr/>
                </a:tc>
                <a:tc>
                  <a:txBody>
                    <a:bodyPr/>
                    <a:lstStyle/>
                    <a:p>
                      <a:pPr algn="l"/>
                      <a:r>
                        <a:rPr lang="en-US" sz="1500" dirty="0"/>
                        <a:t>Multimodal 3D deep learning provides a faster and more accurate way to diagnose AD.</a:t>
                      </a:r>
                    </a:p>
                  </a:txBody>
                  <a:tcPr/>
                </a:tc>
                <a:extLst>
                  <a:ext uri="{0D108BD9-81ED-4DB2-BD59-A6C34878D82A}">
                    <a16:rowId xmlns:a16="http://schemas.microsoft.com/office/drawing/2014/main" val="2386906911"/>
                  </a:ext>
                </a:extLst>
              </a:tr>
              <a:tr h="860079">
                <a:tc>
                  <a:txBody>
                    <a:bodyPr/>
                    <a:lstStyle/>
                    <a:p>
                      <a:r>
                        <a:rPr lang="en-US" sz="1500" b="0" i="0" u="none" strike="noStrike" kern="1200" baseline="0" dirty="0">
                          <a:solidFill>
                            <a:schemeClr val="dk1"/>
                          </a:solidFill>
                          <a:latin typeface="+mn-lt"/>
                          <a:ea typeface="+mn-ea"/>
                          <a:cs typeface="+mn-cs"/>
                        </a:rPr>
                        <a:t>Alzheimer's Diseases Detection by Using Deep </a:t>
                      </a:r>
                      <a:r>
                        <a:rPr lang="en-IN" sz="1500" b="0" i="0" u="none" strike="noStrike" kern="1200" baseline="0" dirty="0">
                          <a:solidFill>
                            <a:schemeClr val="dk1"/>
                          </a:solidFill>
                          <a:latin typeface="+mn-lt"/>
                          <a:ea typeface="+mn-ea"/>
                          <a:cs typeface="+mn-cs"/>
                        </a:rPr>
                        <a:t>Learning Algorithms: A Mini-Review</a:t>
                      </a:r>
                      <a:endParaRPr lang="en-IN" sz="1500" dirty="0"/>
                    </a:p>
                  </a:txBody>
                  <a:tcPr/>
                </a:tc>
                <a:tc>
                  <a:txBody>
                    <a:bodyPr/>
                    <a:lstStyle/>
                    <a:p>
                      <a:r>
                        <a:rPr lang="en-IN" sz="1500" b="0" i="0" u="none" strike="noStrike" kern="1200" baseline="0" dirty="0">
                          <a:solidFill>
                            <a:schemeClr val="dk1"/>
                          </a:solidFill>
                          <a:latin typeface="+mn-lt"/>
                          <a:ea typeface="+mn-ea"/>
                          <a:cs typeface="+mn-cs"/>
                        </a:rPr>
                        <a:t>SUHAD AL-SHOUKRY,</a:t>
                      </a:r>
                    </a:p>
                    <a:p>
                      <a:r>
                        <a:rPr lang="en-IN" sz="1500" b="0" i="0" u="none" strike="noStrike" kern="1200" baseline="0" dirty="0">
                          <a:solidFill>
                            <a:schemeClr val="dk1"/>
                          </a:solidFill>
                          <a:latin typeface="+mn-lt"/>
                          <a:ea typeface="+mn-ea"/>
                          <a:cs typeface="+mn-cs"/>
                        </a:rPr>
                        <a:t>TAHA H. RASSEM</a:t>
                      </a:r>
                      <a:endParaRPr lang="en-IN" sz="1500" dirty="0"/>
                    </a:p>
                  </a:txBody>
                  <a:tcPr/>
                </a:tc>
                <a:tc>
                  <a:txBody>
                    <a:bodyPr/>
                    <a:lstStyle/>
                    <a:p>
                      <a:r>
                        <a:rPr lang="en-US" sz="1500" dirty="0"/>
                        <a:t>IEEE Transactions on Medical Imaging</a:t>
                      </a:r>
                      <a:endParaRPr lang="en-IN" sz="1500" dirty="0"/>
                    </a:p>
                  </a:txBody>
                  <a:tcPr/>
                </a:tc>
                <a:tc>
                  <a:txBody>
                    <a:bodyPr/>
                    <a:lstStyle/>
                    <a:p>
                      <a:r>
                        <a:rPr lang="en-IN" sz="1500" dirty="0"/>
                        <a:t>      </a:t>
                      </a:r>
                    </a:p>
                    <a:p>
                      <a:r>
                        <a:rPr lang="en-IN" sz="1500" dirty="0"/>
                        <a:t>       2023</a:t>
                      </a:r>
                    </a:p>
                  </a:txBody>
                  <a:tcPr/>
                </a:tc>
                <a:tc>
                  <a:txBody>
                    <a:bodyPr/>
                    <a:lstStyle/>
                    <a:p>
                      <a:r>
                        <a:rPr lang="en-US" sz="1500" dirty="0"/>
                        <a:t>Deep learning can help identify AD at an earlier stage.</a:t>
                      </a:r>
                      <a:endParaRPr lang="en-IN" sz="1500" dirty="0"/>
                    </a:p>
                  </a:txBody>
                  <a:tcPr/>
                </a:tc>
                <a:extLst>
                  <a:ext uri="{0D108BD9-81ED-4DB2-BD59-A6C34878D82A}">
                    <a16:rowId xmlns:a16="http://schemas.microsoft.com/office/drawing/2014/main" val="799608036"/>
                  </a:ext>
                </a:extLst>
              </a:tr>
              <a:tr h="1373068">
                <a:tc>
                  <a:txBody>
                    <a:bodyPr/>
                    <a:lstStyle/>
                    <a:p>
                      <a:r>
                        <a:rPr lang="en-US" sz="1600" dirty="0"/>
                        <a:t>A Review on Alzheimer’s Disease Through Analysis of MRI Images Using Deep Learning Techniques.</a:t>
                      </a:r>
                      <a:endParaRPr lang="en-IN" sz="1500" dirty="0"/>
                    </a:p>
                  </a:txBody>
                  <a:tcPr/>
                </a:tc>
                <a:tc>
                  <a:txBody>
                    <a:bodyPr/>
                    <a:lstStyle/>
                    <a:p>
                      <a:endParaRPr lang="en-IN" sz="1500" dirty="0"/>
                    </a:p>
                    <a:p>
                      <a:r>
                        <a:rPr lang="en-IN" sz="1600" dirty="0"/>
                        <a:t>BATTULA SRINIVASA RAO</a:t>
                      </a:r>
                      <a:endParaRPr lang="en-IN" sz="1500" dirty="0"/>
                    </a:p>
                  </a:txBody>
                  <a:tcPr/>
                </a:tc>
                <a:tc>
                  <a:txBody>
                    <a:bodyPr/>
                    <a:lstStyle/>
                    <a:p>
                      <a:endParaRPr lang="en-US" sz="1500" dirty="0"/>
                    </a:p>
                    <a:p>
                      <a:r>
                        <a:rPr lang="en-US" sz="1500" baseline="0" dirty="0"/>
                        <a:t> </a:t>
                      </a:r>
                      <a:r>
                        <a:rPr lang="en-US" sz="1500" dirty="0"/>
                        <a:t>IEEE</a:t>
                      </a:r>
                      <a:r>
                        <a:rPr lang="en-US" sz="1500" baseline="0" dirty="0"/>
                        <a:t> XPLORE</a:t>
                      </a:r>
                      <a:endParaRPr lang="en-IN" sz="1500" dirty="0"/>
                    </a:p>
                  </a:txBody>
                  <a:tcPr/>
                </a:tc>
                <a:tc>
                  <a:txBody>
                    <a:bodyPr/>
                    <a:lstStyle/>
                    <a:p>
                      <a:endParaRPr lang="en-IN" sz="1500" dirty="0"/>
                    </a:p>
                    <a:p>
                      <a:r>
                        <a:rPr lang="en-IN" sz="1500"/>
                        <a:t>       2023</a:t>
                      </a:r>
                      <a:endParaRPr lang="en-IN" sz="1500" dirty="0"/>
                    </a:p>
                  </a:txBody>
                  <a:tcPr/>
                </a:tc>
                <a:tc>
                  <a:txBody>
                    <a:bodyPr/>
                    <a:lstStyle/>
                    <a:p>
                      <a:r>
                        <a:rPr lang="en-US" sz="1500" dirty="0"/>
                        <a:t>Detecting Alzheimer Disease early by analyzing MRI scans using deep learning.</a:t>
                      </a:r>
                      <a:endParaRPr lang="en-IN" sz="1500" dirty="0"/>
                    </a:p>
                  </a:txBody>
                  <a:tcPr/>
                </a:tc>
                <a:extLst>
                  <a:ext uri="{0D108BD9-81ED-4DB2-BD59-A6C34878D82A}">
                    <a16:rowId xmlns:a16="http://schemas.microsoft.com/office/drawing/2014/main" val="3616538731"/>
                  </a:ext>
                </a:extLst>
              </a:tr>
            </a:tbl>
          </a:graphicData>
        </a:graphic>
      </p:graphicFrame>
    </p:spTree>
    <p:extLst>
      <p:ext uri="{BB962C8B-B14F-4D97-AF65-F5344CB8AC3E}">
        <p14:creationId xmlns:p14="http://schemas.microsoft.com/office/powerpoint/2010/main" val="404176768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33363C-4F87-E82A-9C60-B0BAD54D09F5}"/>
              </a:ext>
            </a:extLst>
          </p:cNvPr>
          <p:cNvSpPr>
            <a:spLocks noGrp="1"/>
          </p:cNvSpPr>
          <p:nvPr>
            <p:ph type="title"/>
          </p:nvPr>
        </p:nvSpPr>
        <p:spPr/>
        <p:txBody>
          <a:bodyPr/>
          <a:lstStyle/>
          <a:p>
            <a:r>
              <a:rPr lang="en-IN" dirty="0"/>
              <a:t>   </a:t>
            </a:r>
          </a:p>
        </p:txBody>
      </p:sp>
      <p:graphicFrame>
        <p:nvGraphicFramePr>
          <p:cNvPr id="5" name="Content Placeholder 4">
            <a:extLst>
              <a:ext uri="{FF2B5EF4-FFF2-40B4-BE49-F238E27FC236}">
                <a16:creationId xmlns:a16="http://schemas.microsoft.com/office/drawing/2014/main" id="{A388DEB4-70B9-7FFD-C8DE-EB866B6180B8}"/>
              </a:ext>
            </a:extLst>
          </p:cNvPr>
          <p:cNvGraphicFramePr>
            <a:graphicFrameLocks noGrp="1"/>
          </p:cNvGraphicFramePr>
          <p:nvPr>
            <p:ph idx="1"/>
            <p:extLst>
              <p:ext uri="{D42A27DB-BD31-4B8C-83A1-F6EECF244321}">
                <p14:modId xmlns:p14="http://schemas.microsoft.com/office/powerpoint/2010/main" val="894336228"/>
              </p:ext>
            </p:extLst>
          </p:nvPr>
        </p:nvGraphicFramePr>
        <p:xfrm>
          <a:off x="838201" y="688259"/>
          <a:ext cx="10515600" cy="5496232"/>
        </p:xfrm>
        <a:graphic>
          <a:graphicData uri="http://schemas.openxmlformats.org/drawingml/2006/table">
            <a:tbl>
              <a:tblPr firstRow="1" bandRow="1">
                <a:tableStyleId>{5C22544A-7EE6-4342-B048-85BDC9FD1C3A}</a:tableStyleId>
              </a:tblPr>
              <a:tblGrid>
                <a:gridCol w="2494530">
                  <a:extLst>
                    <a:ext uri="{9D8B030D-6E8A-4147-A177-3AD203B41FA5}">
                      <a16:colId xmlns:a16="http://schemas.microsoft.com/office/drawing/2014/main" val="2871066921"/>
                    </a:ext>
                  </a:extLst>
                </a:gridCol>
                <a:gridCol w="2134958">
                  <a:extLst>
                    <a:ext uri="{9D8B030D-6E8A-4147-A177-3AD203B41FA5}">
                      <a16:colId xmlns:a16="http://schemas.microsoft.com/office/drawing/2014/main" val="3852849872"/>
                    </a:ext>
                  </a:extLst>
                </a:gridCol>
                <a:gridCol w="2022591">
                  <a:extLst>
                    <a:ext uri="{9D8B030D-6E8A-4147-A177-3AD203B41FA5}">
                      <a16:colId xmlns:a16="http://schemas.microsoft.com/office/drawing/2014/main" val="359466736"/>
                    </a:ext>
                  </a:extLst>
                </a:gridCol>
                <a:gridCol w="1449526">
                  <a:extLst>
                    <a:ext uri="{9D8B030D-6E8A-4147-A177-3AD203B41FA5}">
                      <a16:colId xmlns:a16="http://schemas.microsoft.com/office/drawing/2014/main" val="2231853009"/>
                    </a:ext>
                  </a:extLst>
                </a:gridCol>
                <a:gridCol w="2413995">
                  <a:extLst>
                    <a:ext uri="{9D8B030D-6E8A-4147-A177-3AD203B41FA5}">
                      <a16:colId xmlns:a16="http://schemas.microsoft.com/office/drawing/2014/main" val="687309268"/>
                    </a:ext>
                  </a:extLst>
                </a:gridCol>
              </a:tblGrid>
              <a:tr h="990687">
                <a:tc>
                  <a:txBody>
                    <a:bodyPr/>
                    <a:lstStyle/>
                    <a:p>
                      <a:endParaRPr lang="en-IN" dirty="0"/>
                    </a:p>
                    <a:p>
                      <a:r>
                        <a:rPr lang="en-IN" dirty="0"/>
                        <a:t>   Paper Title</a:t>
                      </a:r>
                    </a:p>
                  </a:txBody>
                  <a:tcPr/>
                </a:tc>
                <a:tc>
                  <a:txBody>
                    <a:bodyPr/>
                    <a:lstStyle/>
                    <a:p>
                      <a:endParaRPr lang="en-IN" dirty="0"/>
                    </a:p>
                    <a:p>
                      <a:r>
                        <a:rPr lang="en-IN" dirty="0"/>
                        <a:t>       Author</a:t>
                      </a:r>
                    </a:p>
                  </a:txBody>
                  <a:tcPr/>
                </a:tc>
                <a:tc>
                  <a:txBody>
                    <a:bodyPr/>
                    <a:lstStyle/>
                    <a:p>
                      <a:endParaRPr lang="en-IN" dirty="0"/>
                    </a:p>
                    <a:p>
                      <a:r>
                        <a:rPr lang="en-IN" dirty="0"/>
                        <a:t>  Journal Name</a:t>
                      </a:r>
                    </a:p>
                  </a:txBody>
                  <a:tcPr/>
                </a:tc>
                <a:tc>
                  <a:txBody>
                    <a:bodyPr/>
                    <a:lstStyle/>
                    <a:p>
                      <a:endParaRPr lang="en-IN" dirty="0"/>
                    </a:p>
                    <a:p>
                      <a:r>
                        <a:rPr lang="en-IN" dirty="0"/>
                        <a:t>        Year</a:t>
                      </a:r>
                    </a:p>
                  </a:txBody>
                  <a:tcPr/>
                </a:tc>
                <a:tc>
                  <a:txBody>
                    <a:bodyPr/>
                    <a:lstStyle/>
                    <a:p>
                      <a:endParaRPr lang="en-IN" dirty="0"/>
                    </a:p>
                    <a:p>
                      <a:r>
                        <a:rPr lang="en-IN" dirty="0"/>
                        <a:t>    Key Points</a:t>
                      </a:r>
                    </a:p>
                  </a:txBody>
                  <a:tcPr/>
                </a:tc>
                <a:extLst>
                  <a:ext uri="{0D108BD9-81ED-4DB2-BD59-A6C34878D82A}">
                    <a16:rowId xmlns:a16="http://schemas.microsoft.com/office/drawing/2014/main" val="350218319"/>
                  </a:ext>
                </a:extLst>
              </a:tr>
              <a:tr h="1471198">
                <a:tc>
                  <a:txBody>
                    <a:bodyPr/>
                    <a:lstStyle/>
                    <a:p>
                      <a:r>
                        <a:rPr lang="en-US" sz="1500" dirty="0"/>
                        <a:t>Early Diagnosis of Alzheimer’s Disease</a:t>
                      </a:r>
                    </a:p>
                    <a:p>
                      <a:r>
                        <a:rPr lang="en-US" sz="1500" dirty="0"/>
                        <a:t>Using 18F-FDG PET With Soften</a:t>
                      </a:r>
                    </a:p>
                    <a:p>
                      <a:r>
                        <a:rPr lang="en-US" sz="1500" dirty="0"/>
                        <a:t>Latent Representation</a:t>
                      </a:r>
                    </a:p>
                    <a:p>
                      <a:endParaRPr lang="en-IN" sz="1500" dirty="0"/>
                    </a:p>
                  </a:txBody>
                  <a:tcPr/>
                </a:tc>
                <a:tc>
                  <a:txBody>
                    <a:bodyPr/>
                    <a:lstStyle/>
                    <a:p>
                      <a:r>
                        <a:rPr lang="en-IN" sz="1500" dirty="0"/>
                        <a:t>ABDUL REHMAN,</a:t>
                      </a:r>
                    </a:p>
                    <a:p>
                      <a:r>
                        <a:rPr lang="en-IN" sz="1500" dirty="0"/>
                        <a:t>MYUNG-KYU Y</a:t>
                      </a:r>
                    </a:p>
                  </a:txBody>
                  <a:tcPr/>
                </a:tc>
                <a:tc>
                  <a:txBody>
                    <a:bodyPr/>
                    <a:lstStyle/>
                    <a:p>
                      <a:r>
                        <a:rPr lang="en-IN" sz="1500" dirty="0"/>
                        <a:t>IEEE </a:t>
                      </a:r>
                      <a:r>
                        <a:rPr lang="en-US" sz="1500" dirty="0"/>
                        <a:t>Journal of Medical Imaging and Health Informatics</a:t>
                      </a:r>
                      <a:endParaRPr lang="en-IN" sz="1500" dirty="0"/>
                    </a:p>
                  </a:txBody>
                  <a:tcPr/>
                </a:tc>
                <a:tc>
                  <a:txBody>
                    <a:bodyPr/>
                    <a:lstStyle/>
                    <a:p>
                      <a:endParaRPr lang="en-IN" sz="1500" dirty="0"/>
                    </a:p>
                    <a:p>
                      <a:r>
                        <a:rPr lang="en-IN" sz="1500" dirty="0"/>
                        <a:t>     2023</a:t>
                      </a:r>
                    </a:p>
                  </a:txBody>
                  <a:tcPr/>
                </a:tc>
                <a:tc>
                  <a:txBody>
                    <a:bodyPr/>
                    <a:lstStyle/>
                    <a:p>
                      <a:r>
                        <a:rPr lang="en-US" sz="1500" dirty="0"/>
                        <a:t>Helps in better feature extraction, reducing noise and enhancing model performance.</a:t>
                      </a:r>
                      <a:endParaRPr lang="en-IN" sz="1500" dirty="0"/>
                    </a:p>
                  </a:txBody>
                  <a:tcPr/>
                </a:tc>
                <a:extLst>
                  <a:ext uri="{0D108BD9-81ED-4DB2-BD59-A6C34878D82A}">
                    <a16:rowId xmlns:a16="http://schemas.microsoft.com/office/drawing/2014/main" val="303732971"/>
                  </a:ext>
                </a:extLst>
              </a:tr>
              <a:tr h="1011449">
                <a:tc>
                  <a:txBody>
                    <a:bodyPr/>
                    <a:lstStyle/>
                    <a:p>
                      <a:r>
                        <a:rPr lang="en-US" sz="1600" dirty="0"/>
                        <a:t>Clinical diagnosis of Alzheimer’s disease</a:t>
                      </a:r>
                      <a:endParaRPr lang="en-IN" sz="1600" dirty="0"/>
                    </a:p>
                  </a:txBody>
                  <a:tcPr/>
                </a:tc>
                <a:tc>
                  <a:txBody>
                    <a:bodyPr/>
                    <a:lstStyle/>
                    <a:p>
                      <a:r>
                        <a:rPr lang="en-IN" sz="1500" dirty="0"/>
                        <a:t>M. </a:t>
                      </a:r>
                      <a:r>
                        <a:rPr lang="en-IN" sz="1500" dirty="0" err="1"/>
                        <a:t>Folstein</a:t>
                      </a:r>
                      <a:endParaRPr lang="en-IN" sz="1500" dirty="0"/>
                    </a:p>
                  </a:txBody>
                  <a:tcPr/>
                </a:tc>
                <a:tc>
                  <a:txBody>
                    <a:bodyPr/>
                    <a:lstStyle/>
                    <a:p>
                      <a:r>
                        <a:rPr lang="en-US" sz="1500" dirty="0"/>
                        <a:t>IEEE Transactions on Cognitive and Developmental Systems</a:t>
                      </a:r>
                      <a:endParaRPr lang="en-IN" sz="1500" dirty="0"/>
                    </a:p>
                  </a:txBody>
                  <a:tcPr/>
                </a:tc>
                <a:tc>
                  <a:txBody>
                    <a:bodyPr/>
                    <a:lstStyle/>
                    <a:p>
                      <a:r>
                        <a:rPr lang="en-IN" sz="1500" dirty="0"/>
                        <a:t>     2022</a:t>
                      </a:r>
                    </a:p>
                  </a:txBody>
                  <a:tcPr/>
                </a:tc>
                <a:tc>
                  <a:txBody>
                    <a:bodyPr/>
                    <a:lstStyle/>
                    <a:p>
                      <a:r>
                        <a:rPr lang="en-US" sz="1500" dirty="0"/>
                        <a:t>Provides a consistent framework for diagnosing AD improving accuracy across clinics.</a:t>
                      </a:r>
                      <a:endParaRPr lang="en-IN" sz="1500" dirty="0"/>
                    </a:p>
                  </a:txBody>
                  <a:tcPr/>
                </a:tc>
                <a:extLst>
                  <a:ext uri="{0D108BD9-81ED-4DB2-BD59-A6C34878D82A}">
                    <a16:rowId xmlns:a16="http://schemas.microsoft.com/office/drawing/2014/main" val="109884106"/>
                  </a:ext>
                </a:extLst>
              </a:tr>
              <a:tr h="1011449">
                <a:tc>
                  <a:txBody>
                    <a:bodyPr/>
                    <a:lstStyle/>
                    <a:p>
                      <a:r>
                        <a:rPr lang="en-US" sz="1500" dirty="0"/>
                        <a:t>Generalizable deep learning model for early Alzheimer’s disease detection from structural MRIs</a:t>
                      </a:r>
                      <a:endParaRPr lang="en-IN" sz="1500" dirty="0"/>
                    </a:p>
                  </a:txBody>
                  <a:tcPr/>
                </a:tc>
                <a:tc>
                  <a:txBody>
                    <a:bodyPr/>
                    <a:lstStyle/>
                    <a:p>
                      <a:r>
                        <a:rPr lang="en-IN" sz="1600" dirty="0"/>
                        <a:t>V. </a:t>
                      </a:r>
                      <a:r>
                        <a:rPr lang="en-IN" sz="1600" dirty="0" err="1"/>
                        <a:t>Masurkar</a:t>
                      </a:r>
                      <a:endParaRPr lang="en-IN" sz="1600" dirty="0"/>
                    </a:p>
                  </a:txBody>
                  <a:tcPr/>
                </a:tc>
                <a:tc>
                  <a:txBody>
                    <a:bodyPr/>
                    <a:lstStyle/>
                    <a:p>
                      <a:r>
                        <a:rPr lang="en-US" sz="1500" dirty="0"/>
                        <a:t>IEEE Transactions on Neural Networks and Learning Systems</a:t>
                      </a:r>
                      <a:endParaRPr lang="en-IN" sz="1500" dirty="0"/>
                    </a:p>
                  </a:txBody>
                  <a:tcPr/>
                </a:tc>
                <a:tc>
                  <a:txBody>
                    <a:bodyPr/>
                    <a:lstStyle/>
                    <a:p>
                      <a:r>
                        <a:rPr lang="en-IN" sz="1500" dirty="0"/>
                        <a:t>     2022</a:t>
                      </a:r>
                    </a:p>
                  </a:txBody>
                  <a:tcPr/>
                </a:tc>
                <a:tc>
                  <a:txBody>
                    <a:bodyPr/>
                    <a:lstStyle/>
                    <a:p>
                      <a:r>
                        <a:rPr lang="en-US" sz="1500" dirty="0"/>
                        <a:t>The model aims to work across various populations and MRI settings, improving its practical applicability.</a:t>
                      </a:r>
                      <a:endParaRPr lang="en-IN" sz="1500" dirty="0"/>
                    </a:p>
                  </a:txBody>
                  <a:tcPr/>
                </a:tc>
                <a:extLst>
                  <a:ext uri="{0D108BD9-81ED-4DB2-BD59-A6C34878D82A}">
                    <a16:rowId xmlns:a16="http://schemas.microsoft.com/office/drawing/2014/main" val="2015850023"/>
                  </a:ext>
                </a:extLst>
              </a:tr>
              <a:tr h="1011449">
                <a:tc>
                  <a:txBody>
                    <a:bodyPr/>
                    <a:lstStyle/>
                    <a:p>
                      <a:r>
                        <a:rPr lang="en-US" sz="1500" dirty="0"/>
                        <a:t>Alzheimer’s disease detection from structural </a:t>
                      </a:r>
                      <a:r>
                        <a:rPr lang="en-US" sz="1500" dirty="0" err="1"/>
                        <a:t>mri</a:t>
                      </a:r>
                      <a:r>
                        <a:rPr lang="en-US" sz="1500" dirty="0"/>
                        <a:t> using fusion transformer.</a:t>
                      </a:r>
                      <a:endParaRPr lang="en-IN" sz="1500" dirty="0"/>
                    </a:p>
                  </a:txBody>
                  <a:tcPr/>
                </a:tc>
                <a:tc>
                  <a:txBody>
                    <a:bodyPr/>
                    <a:lstStyle/>
                    <a:p>
                      <a:r>
                        <a:rPr lang="en-IN" sz="1500" dirty="0"/>
                        <a:t>R. </a:t>
                      </a:r>
                      <a:r>
                        <a:rPr lang="en-IN" sz="1500" dirty="0" err="1"/>
                        <a:t>Kushol</a:t>
                      </a:r>
                      <a:endParaRPr lang="en-IN" sz="1500" dirty="0"/>
                    </a:p>
                  </a:txBody>
                  <a:tcPr/>
                </a:tc>
                <a:tc>
                  <a:txBody>
                    <a:bodyPr/>
                    <a:lstStyle/>
                    <a:p>
                      <a:r>
                        <a:rPr lang="en-US" sz="1500" dirty="0"/>
                        <a:t>IEEE Transactions on Medical Imaging</a:t>
                      </a:r>
                      <a:endParaRPr lang="en-IN" sz="1500" dirty="0"/>
                    </a:p>
                  </a:txBody>
                  <a:tcPr/>
                </a:tc>
                <a:tc>
                  <a:txBody>
                    <a:bodyPr/>
                    <a:lstStyle/>
                    <a:p>
                      <a:r>
                        <a:rPr lang="en-IN" sz="1500" dirty="0"/>
                        <a:t>     2021</a:t>
                      </a:r>
                    </a:p>
                  </a:txBody>
                  <a:tcPr/>
                </a:tc>
                <a:tc>
                  <a:txBody>
                    <a:bodyPr/>
                    <a:lstStyle/>
                    <a:p>
                      <a:r>
                        <a:rPr lang="en-US" sz="1500" dirty="0"/>
                        <a:t>Combines multiple brain regions and features for more accurate and holistic analysis.</a:t>
                      </a:r>
                      <a:endParaRPr lang="en-IN" sz="1500" dirty="0"/>
                    </a:p>
                  </a:txBody>
                  <a:tcPr/>
                </a:tc>
                <a:extLst>
                  <a:ext uri="{0D108BD9-81ED-4DB2-BD59-A6C34878D82A}">
                    <a16:rowId xmlns:a16="http://schemas.microsoft.com/office/drawing/2014/main" val="46328381"/>
                  </a:ext>
                </a:extLst>
              </a:tr>
            </a:tbl>
          </a:graphicData>
        </a:graphic>
      </p:graphicFrame>
    </p:spTree>
    <p:extLst>
      <p:ext uri="{BB962C8B-B14F-4D97-AF65-F5344CB8AC3E}">
        <p14:creationId xmlns:p14="http://schemas.microsoft.com/office/powerpoint/2010/main" val="300369189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A3FE56-AC6E-626F-79C7-11B91920341C}"/>
              </a:ext>
            </a:extLst>
          </p:cNvPr>
          <p:cNvSpPr>
            <a:spLocks noGrp="1"/>
          </p:cNvSpPr>
          <p:nvPr>
            <p:ph type="title"/>
          </p:nvPr>
        </p:nvSpPr>
        <p:spPr/>
        <p:txBody>
          <a:bodyPr/>
          <a:lstStyle/>
          <a:p>
            <a:r>
              <a:rPr lang="en-US" b="1" dirty="0"/>
              <a:t>                        EXISTING SYSTEM</a:t>
            </a:r>
            <a:endParaRPr lang="en-IN" b="1" dirty="0"/>
          </a:p>
        </p:txBody>
      </p:sp>
      <p:sp>
        <p:nvSpPr>
          <p:cNvPr id="3" name="Content Placeholder 2">
            <a:extLst>
              <a:ext uri="{FF2B5EF4-FFF2-40B4-BE49-F238E27FC236}">
                <a16:creationId xmlns:a16="http://schemas.microsoft.com/office/drawing/2014/main" id="{190A2015-4B7C-486E-C66C-7448811C5947}"/>
              </a:ext>
            </a:extLst>
          </p:cNvPr>
          <p:cNvSpPr>
            <a:spLocks noGrp="1"/>
          </p:cNvSpPr>
          <p:nvPr>
            <p:ph idx="1"/>
          </p:nvPr>
        </p:nvSpPr>
        <p:spPr>
          <a:xfrm>
            <a:off x="838200" y="1551783"/>
            <a:ext cx="10515600" cy="4979961"/>
          </a:xfrm>
        </p:spPr>
        <p:txBody>
          <a:bodyPr>
            <a:normAutofit fontScale="85000" lnSpcReduction="20000"/>
          </a:bodyPr>
          <a:lstStyle/>
          <a:p>
            <a:pPr marL="0" indent="0" algn="just">
              <a:lnSpc>
                <a:spcPct val="100000"/>
              </a:lnSpc>
              <a:buNone/>
            </a:pPr>
            <a:r>
              <a:rPr lang="en-US" dirty="0"/>
              <a:t>The existing system integrates cognitive impact , biomarkers, neuroimaging, and Imaging Data.</a:t>
            </a:r>
            <a:endParaRPr lang="en-US" b="1" dirty="0"/>
          </a:p>
          <a:p>
            <a:pPr algn="just">
              <a:lnSpc>
                <a:spcPct val="120000"/>
              </a:lnSpc>
            </a:pPr>
            <a:r>
              <a:rPr lang="en-US" b="1" dirty="0"/>
              <a:t>Cognitive Impact</a:t>
            </a:r>
            <a:r>
              <a:rPr lang="en-US" dirty="0"/>
              <a:t>: Mild cognitive impairment, with slight challenges in planning, problem-solving, or organizing tasks.</a:t>
            </a:r>
          </a:p>
          <a:p>
            <a:pPr algn="just">
              <a:lnSpc>
                <a:spcPct val="120000"/>
              </a:lnSpc>
            </a:pPr>
            <a:r>
              <a:rPr lang="en-US" b="1" dirty="0"/>
              <a:t>Biomarkers</a:t>
            </a:r>
            <a:r>
              <a:rPr lang="en-US" dirty="0"/>
              <a:t>:  Blood and spinal fluid (CSF) tests to detect substances like amyloid-beta, tau, and neurofilament light chain for studying Alzheimer's disease at a molecular level.</a:t>
            </a:r>
          </a:p>
          <a:p>
            <a:pPr algn="just">
              <a:lnSpc>
                <a:spcPct val="120000"/>
              </a:lnSpc>
            </a:pPr>
            <a:r>
              <a:rPr lang="en-US" b="1" dirty="0"/>
              <a:t>Imaging Data</a:t>
            </a:r>
            <a:r>
              <a:rPr lang="en-US" dirty="0"/>
              <a:t>: ADNI collects a wide range of brain imaging data, including MRI scans to study brain changes associated with Alzheimer's disease. </a:t>
            </a:r>
          </a:p>
          <a:p>
            <a:pPr algn="just">
              <a:lnSpc>
                <a:spcPct val="120000"/>
              </a:lnSpc>
            </a:pPr>
            <a:r>
              <a:rPr lang="en-IN" b="1" dirty="0"/>
              <a:t>Neuroimaging</a:t>
            </a:r>
            <a:r>
              <a:rPr lang="en-US" dirty="0"/>
              <a:t>: Analyzing large amounts of data requires advanced technology and expertise. Different hospitals use different scanning methods, making results inconsistent.</a:t>
            </a:r>
          </a:p>
        </p:txBody>
      </p:sp>
    </p:spTree>
    <p:extLst>
      <p:ext uri="{BB962C8B-B14F-4D97-AF65-F5344CB8AC3E}">
        <p14:creationId xmlns:p14="http://schemas.microsoft.com/office/powerpoint/2010/main" val="59483372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25F3DA-0A9F-C3DD-C3EF-B2FD45DBF47E}"/>
              </a:ext>
            </a:extLst>
          </p:cNvPr>
          <p:cNvSpPr>
            <a:spLocks noGrp="1"/>
          </p:cNvSpPr>
          <p:nvPr>
            <p:ph type="title"/>
          </p:nvPr>
        </p:nvSpPr>
        <p:spPr/>
        <p:txBody>
          <a:bodyPr/>
          <a:lstStyle/>
          <a:p>
            <a:r>
              <a:rPr lang="en-US" b="1" dirty="0"/>
              <a:t>                     PROPOSED SYSTEM</a:t>
            </a:r>
            <a:endParaRPr lang="en-IN" b="1" dirty="0"/>
          </a:p>
        </p:txBody>
      </p:sp>
      <p:sp>
        <p:nvSpPr>
          <p:cNvPr id="3" name="Content Placeholder 2">
            <a:extLst>
              <a:ext uri="{FF2B5EF4-FFF2-40B4-BE49-F238E27FC236}">
                <a16:creationId xmlns:a16="http://schemas.microsoft.com/office/drawing/2014/main" id="{2B89E0DE-7843-CD47-115B-BD076540FA17}"/>
              </a:ext>
            </a:extLst>
          </p:cNvPr>
          <p:cNvSpPr>
            <a:spLocks noGrp="1"/>
          </p:cNvSpPr>
          <p:nvPr>
            <p:ph idx="1"/>
          </p:nvPr>
        </p:nvSpPr>
        <p:spPr>
          <a:xfrm>
            <a:off x="838200" y="1690688"/>
            <a:ext cx="10515600" cy="4884664"/>
          </a:xfrm>
        </p:spPr>
        <p:txBody>
          <a:bodyPr>
            <a:normAutofit fontScale="85000" lnSpcReduction="20000"/>
          </a:bodyPr>
          <a:lstStyle/>
          <a:p>
            <a:pPr algn="just">
              <a:lnSpc>
                <a:spcPct val="100000"/>
              </a:lnSpc>
            </a:pPr>
            <a:r>
              <a:rPr lang="en-IN" b="1" dirty="0"/>
              <a:t>Multimodal Data Integration</a:t>
            </a:r>
            <a:r>
              <a:rPr lang="en-IN" dirty="0"/>
              <a:t>: The system integrates MRI scans, PET scans, and clinical data (such as cognitive assessments and genetic information) for comprehensive Alzheimer's disease recognition.</a:t>
            </a:r>
          </a:p>
          <a:p>
            <a:pPr algn="just">
              <a:lnSpc>
                <a:spcPct val="120000"/>
              </a:lnSpc>
            </a:pPr>
            <a:r>
              <a:rPr lang="en-US" b="1" dirty="0"/>
              <a:t>Deep Learning Models</a:t>
            </a:r>
            <a:r>
              <a:rPr lang="en-US" dirty="0"/>
              <a:t>: Advanced neural networks improve accuracy in predicting Alzheimer's from large datasets.</a:t>
            </a:r>
          </a:p>
          <a:p>
            <a:pPr algn="just">
              <a:lnSpc>
                <a:spcPct val="100000"/>
              </a:lnSpc>
            </a:pPr>
            <a:r>
              <a:rPr lang="en-IN" b="1" dirty="0"/>
              <a:t>Multimodal Fusion</a:t>
            </a:r>
            <a:r>
              <a:rPr lang="en-IN" dirty="0"/>
              <a:t>: </a:t>
            </a:r>
            <a:r>
              <a:rPr lang="en-US" dirty="0"/>
              <a:t>A fusion network combines features from </a:t>
            </a:r>
            <a:r>
              <a:rPr lang="en-US" dirty="0" err="1"/>
              <a:t>DenseNet</a:t>
            </a:r>
            <a:r>
              <a:rPr lang="en-US" dirty="0"/>
              <a:t>-extracted imaging data and Multimodal fusion in clinical data to enhance diagnostic accuracy and robustness.</a:t>
            </a:r>
          </a:p>
          <a:p>
            <a:pPr algn="just">
              <a:lnSpc>
                <a:spcPct val="100000"/>
              </a:lnSpc>
            </a:pPr>
            <a:r>
              <a:rPr lang="en-IN" b="1" dirty="0" err="1"/>
              <a:t>DenseNet</a:t>
            </a:r>
            <a:r>
              <a:rPr lang="en-IN" b="1" dirty="0"/>
              <a:t> Architecture</a:t>
            </a:r>
            <a:r>
              <a:rPr lang="en-IN" dirty="0"/>
              <a:t>: </a:t>
            </a:r>
            <a:r>
              <a:rPr lang="en-US" dirty="0"/>
              <a:t>The </a:t>
            </a:r>
            <a:r>
              <a:rPr lang="en-US" dirty="0" err="1"/>
              <a:t>DenseNet</a:t>
            </a:r>
            <a:r>
              <a:rPr lang="en-US" dirty="0"/>
              <a:t> algorithm is utilized for its efficient feature and enabling the ability to pass information easily between layers in the multimodal data.</a:t>
            </a:r>
          </a:p>
          <a:p>
            <a:pPr algn="just">
              <a:lnSpc>
                <a:spcPct val="100000"/>
              </a:lnSpc>
            </a:pPr>
            <a:r>
              <a:rPr lang="en-US" b="1" dirty="0"/>
              <a:t>Advancements in Neuroimaging Techniques</a:t>
            </a:r>
            <a:r>
              <a:rPr lang="en-US" dirty="0"/>
              <a:t>: Exploration of how imaging technologies like MRI, PET, and CT scans evolved over the years to better capture brain changes.</a:t>
            </a:r>
            <a:endParaRPr lang="en-IN" dirty="0"/>
          </a:p>
        </p:txBody>
      </p:sp>
    </p:spTree>
    <p:extLst>
      <p:ext uri="{BB962C8B-B14F-4D97-AF65-F5344CB8AC3E}">
        <p14:creationId xmlns:p14="http://schemas.microsoft.com/office/powerpoint/2010/main" val="59222130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AE70AD-4AFE-49A9-3029-3D6EFD0FB6C8}"/>
              </a:ext>
            </a:extLst>
          </p:cNvPr>
          <p:cNvSpPr>
            <a:spLocks noGrp="1"/>
          </p:cNvSpPr>
          <p:nvPr>
            <p:ph type="title"/>
          </p:nvPr>
        </p:nvSpPr>
        <p:spPr/>
        <p:txBody>
          <a:bodyPr/>
          <a:lstStyle/>
          <a:p>
            <a:r>
              <a:rPr lang="en-IN" b="1" dirty="0"/>
              <a:t>		   FUNCTIONAL DIAGRAM</a:t>
            </a:r>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rcRect/>
          <a:stretch/>
        </p:blipFill>
        <p:spPr>
          <a:xfrm>
            <a:off x="727588" y="1386348"/>
            <a:ext cx="10736826" cy="5309419"/>
          </a:xfrm>
        </p:spPr>
      </p:pic>
    </p:spTree>
    <p:extLst>
      <p:ext uri="{BB962C8B-B14F-4D97-AF65-F5344CB8AC3E}">
        <p14:creationId xmlns:p14="http://schemas.microsoft.com/office/powerpoint/2010/main" val="23439419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48A2A5-6420-3031-9C07-34EAF5208791}"/>
              </a:ext>
            </a:extLst>
          </p:cNvPr>
          <p:cNvSpPr>
            <a:spLocks noGrp="1"/>
          </p:cNvSpPr>
          <p:nvPr>
            <p:ph type="title"/>
          </p:nvPr>
        </p:nvSpPr>
        <p:spPr/>
        <p:txBody>
          <a:bodyPr/>
          <a:lstStyle/>
          <a:p>
            <a:r>
              <a:rPr lang="en-US" b="1" dirty="0"/>
              <a:t>			MODULES DESCRIPTION</a:t>
            </a:r>
            <a:endParaRPr lang="en-IN" b="1" dirty="0"/>
          </a:p>
        </p:txBody>
      </p:sp>
      <p:sp>
        <p:nvSpPr>
          <p:cNvPr id="3" name="Content Placeholder 2">
            <a:extLst>
              <a:ext uri="{FF2B5EF4-FFF2-40B4-BE49-F238E27FC236}">
                <a16:creationId xmlns:a16="http://schemas.microsoft.com/office/drawing/2014/main" id="{BB936979-5CA4-43FF-02A4-34F1CF9ADD98}"/>
              </a:ext>
            </a:extLst>
          </p:cNvPr>
          <p:cNvSpPr>
            <a:spLocks noGrp="1"/>
          </p:cNvSpPr>
          <p:nvPr>
            <p:ph idx="1"/>
          </p:nvPr>
        </p:nvSpPr>
        <p:spPr>
          <a:xfrm>
            <a:off x="838200" y="1586776"/>
            <a:ext cx="10515600" cy="4892083"/>
          </a:xfrm>
        </p:spPr>
        <p:txBody>
          <a:bodyPr>
            <a:normAutofit/>
          </a:bodyPr>
          <a:lstStyle/>
          <a:p>
            <a:pPr algn="just">
              <a:lnSpc>
                <a:spcPct val="100000"/>
              </a:lnSpc>
            </a:pPr>
            <a:r>
              <a:rPr lang="en-IN" sz="2400" b="1" dirty="0"/>
              <a:t>Multimodal Image Input:</a:t>
            </a:r>
          </a:p>
          <a:p>
            <a:pPr marL="0" indent="0" algn="just">
              <a:lnSpc>
                <a:spcPct val="100000"/>
              </a:lnSpc>
              <a:buNone/>
            </a:pPr>
            <a:r>
              <a:rPr lang="en-IN" sz="2400" b="1" dirty="0"/>
              <a:t>	</a:t>
            </a:r>
            <a:r>
              <a:rPr lang="en-US" sz="2400" dirty="0"/>
              <a:t>The process begins with the collection of brain scan images from different techniques like MRI, PET and CT Scans. These images provide important details about the brain’s structure and function.</a:t>
            </a:r>
          </a:p>
          <a:p>
            <a:pPr algn="just">
              <a:lnSpc>
                <a:spcPct val="100000"/>
              </a:lnSpc>
            </a:pPr>
            <a:r>
              <a:rPr lang="en-IN" sz="2400" b="1" dirty="0"/>
              <a:t>Segmentation:</a:t>
            </a:r>
            <a:endParaRPr lang="en-IN" sz="2000" b="1" dirty="0"/>
          </a:p>
          <a:p>
            <a:pPr marL="0" indent="0" algn="just">
              <a:lnSpc>
                <a:spcPct val="100000"/>
              </a:lnSpc>
              <a:buNone/>
            </a:pPr>
            <a:r>
              <a:rPr lang="en-IN" sz="2000" b="1" dirty="0"/>
              <a:t>	</a:t>
            </a:r>
            <a:r>
              <a:rPr lang="en-US" sz="2400" dirty="0"/>
              <a:t>The images are divided into smaller parts to focus on the important brain regions. This step helps in better analyzing the affected areas.</a:t>
            </a:r>
          </a:p>
          <a:p>
            <a:pPr algn="just">
              <a:lnSpc>
                <a:spcPct val="100000"/>
              </a:lnSpc>
            </a:pPr>
            <a:r>
              <a:rPr lang="en-IN" sz="2400" b="1" dirty="0"/>
              <a:t>Pre-Processing (VGG-16):</a:t>
            </a:r>
          </a:p>
          <a:p>
            <a:pPr marL="0" indent="0" algn="just">
              <a:lnSpc>
                <a:spcPct val="100000"/>
              </a:lnSpc>
              <a:buNone/>
            </a:pPr>
            <a:r>
              <a:rPr lang="en-IN" sz="2400" b="1" dirty="0"/>
              <a:t>	</a:t>
            </a:r>
            <a:r>
              <a:rPr lang="en-US" sz="2400" dirty="0"/>
              <a:t>The images are cleaned by removing noise and resized to a standard size. The VGG-16 Modal is used to pick out key features from the images, making it easier for the AI to recognize patterns.</a:t>
            </a:r>
            <a:endParaRPr lang="en-IN" sz="2400" dirty="0"/>
          </a:p>
        </p:txBody>
      </p:sp>
    </p:spTree>
    <p:extLst>
      <p:ext uri="{BB962C8B-B14F-4D97-AF65-F5344CB8AC3E}">
        <p14:creationId xmlns:p14="http://schemas.microsoft.com/office/powerpoint/2010/main" val="98446582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3329EB-5165-6E11-8B72-0204651B337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F395BCF-3804-977F-8156-F3F97A3509B1}"/>
              </a:ext>
            </a:extLst>
          </p:cNvPr>
          <p:cNvSpPr>
            <a:spLocks noGrp="1"/>
          </p:cNvSpPr>
          <p:nvPr>
            <p:ph type="title"/>
          </p:nvPr>
        </p:nvSpPr>
        <p:spPr/>
        <p:txBody>
          <a:bodyPr/>
          <a:lstStyle/>
          <a:p>
            <a:r>
              <a:rPr lang="en-US" b="1" dirty="0"/>
              <a:t>			MODULES DESCRIPTION</a:t>
            </a:r>
            <a:endParaRPr lang="en-IN" b="1" dirty="0"/>
          </a:p>
        </p:txBody>
      </p:sp>
      <p:sp>
        <p:nvSpPr>
          <p:cNvPr id="3" name="Content Placeholder 2">
            <a:extLst>
              <a:ext uri="{FF2B5EF4-FFF2-40B4-BE49-F238E27FC236}">
                <a16:creationId xmlns:a16="http://schemas.microsoft.com/office/drawing/2014/main" id="{8C8B83A8-0056-CAB9-5CC6-1C459F7847E2}"/>
              </a:ext>
            </a:extLst>
          </p:cNvPr>
          <p:cNvSpPr>
            <a:spLocks noGrp="1"/>
          </p:cNvSpPr>
          <p:nvPr>
            <p:ph idx="1"/>
          </p:nvPr>
        </p:nvSpPr>
        <p:spPr>
          <a:xfrm>
            <a:off x="838200" y="1586776"/>
            <a:ext cx="10515600" cy="4892083"/>
          </a:xfrm>
        </p:spPr>
        <p:txBody>
          <a:bodyPr>
            <a:normAutofit/>
          </a:bodyPr>
          <a:lstStyle/>
          <a:p>
            <a:pPr algn="just">
              <a:lnSpc>
                <a:spcPct val="100000"/>
              </a:lnSpc>
            </a:pPr>
            <a:r>
              <a:rPr lang="en-IN" sz="2400" b="1" dirty="0"/>
              <a:t>Modal Training (DenseNet):</a:t>
            </a:r>
          </a:p>
          <a:p>
            <a:pPr marL="0" indent="0" algn="just">
              <a:lnSpc>
                <a:spcPct val="100000"/>
              </a:lnSpc>
              <a:buNone/>
            </a:pPr>
            <a:r>
              <a:rPr lang="en-IN" sz="2400" b="1" dirty="0"/>
              <a:t>	</a:t>
            </a:r>
            <a:r>
              <a:rPr lang="en-US" sz="2400" dirty="0"/>
              <a:t>The processed images are then fed into a </a:t>
            </a:r>
            <a:r>
              <a:rPr lang="en-US" sz="2400" dirty="0" err="1"/>
              <a:t>DenseNet</a:t>
            </a:r>
            <a:r>
              <a:rPr lang="en-US" sz="2400" dirty="0"/>
              <a:t> Modal, which is trained to identify different stages of Alzheimer’s disease. The modal learns from many examples to improve its accuracy in classification.</a:t>
            </a:r>
          </a:p>
          <a:p>
            <a:pPr algn="just">
              <a:lnSpc>
                <a:spcPct val="100000"/>
              </a:lnSpc>
            </a:pPr>
            <a:r>
              <a:rPr lang="en-IN" sz="2400" b="1" dirty="0"/>
              <a:t>Post-Processing and Classification:</a:t>
            </a:r>
          </a:p>
          <a:p>
            <a:pPr marL="0" indent="0" algn="just">
              <a:lnSpc>
                <a:spcPct val="100000"/>
              </a:lnSpc>
              <a:buNone/>
            </a:pPr>
            <a:r>
              <a:rPr lang="en-IN" sz="2000" b="1" dirty="0"/>
              <a:t>	</a:t>
            </a:r>
            <a:r>
              <a:rPr lang="en-US" sz="2400" dirty="0"/>
              <a:t>Finally, the trained modal classifies the images into four categories: Moderate Demented, Mild Demented, Very Mild Demented, and Non-Demented. This helps doctors understand the stage of the disease and make better treatment decisions.</a:t>
            </a:r>
            <a:endParaRPr lang="en-IN" sz="2400" dirty="0"/>
          </a:p>
        </p:txBody>
      </p:sp>
    </p:spTree>
    <p:extLst>
      <p:ext uri="{BB962C8B-B14F-4D97-AF65-F5344CB8AC3E}">
        <p14:creationId xmlns:p14="http://schemas.microsoft.com/office/powerpoint/2010/main" val="311590699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F0711B-E039-5450-7AE3-20B44D906A97}"/>
              </a:ext>
            </a:extLst>
          </p:cNvPr>
          <p:cNvSpPr>
            <a:spLocks noGrp="1"/>
          </p:cNvSpPr>
          <p:nvPr>
            <p:ph type="title"/>
          </p:nvPr>
        </p:nvSpPr>
        <p:spPr/>
        <p:txBody>
          <a:bodyPr>
            <a:normAutofit/>
          </a:bodyPr>
          <a:lstStyle/>
          <a:p>
            <a:r>
              <a:rPr lang="en-IN" b="1" i="0" u="none" strike="noStrike" baseline="0" dirty="0"/>
              <a:t>				FINAL OUTPUTS</a:t>
            </a:r>
            <a:endParaRPr lang="en-IN" b="1" dirty="0"/>
          </a:p>
        </p:txBody>
      </p:sp>
      <p:pic>
        <p:nvPicPr>
          <p:cNvPr id="5" name="Content Placeholder 4">
            <a:extLst>
              <a:ext uri="{FF2B5EF4-FFF2-40B4-BE49-F238E27FC236}">
                <a16:creationId xmlns:a16="http://schemas.microsoft.com/office/drawing/2014/main" id="{1CC6F735-0D86-E92B-2890-624B18FC90D2}"/>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a:stretch/>
        </p:blipFill>
        <p:spPr>
          <a:xfrm>
            <a:off x="1160206" y="1425678"/>
            <a:ext cx="10193594" cy="5161936"/>
          </a:xfrm>
        </p:spPr>
      </p:pic>
    </p:spTree>
    <p:extLst>
      <p:ext uri="{BB962C8B-B14F-4D97-AF65-F5344CB8AC3E}">
        <p14:creationId xmlns:p14="http://schemas.microsoft.com/office/powerpoint/2010/main" val="259671274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B50B0C71-2E22-D2A8-D025-7FBCA71EE02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87596" y="555523"/>
            <a:ext cx="10216807" cy="5746954"/>
          </a:xfrm>
          <a:prstGeom prst="rect">
            <a:avLst/>
          </a:prstGeom>
        </p:spPr>
      </p:pic>
    </p:spTree>
    <p:extLst>
      <p:ext uri="{BB962C8B-B14F-4D97-AF65-F5344CB8AC3E}">
        <p14:creationId xmlns:p14="http://schemas.microsoft.com/office/powerpoint/2010/main" val="34490713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94CD8524-8B00-5472-E499-984CD559082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83226" y="688258"/>
            <a:ext cx="9989573" cy="5619135"/>
          </a:xfrm>
          <a:prstGeom prst="rect">
            <a:avLst/>
          </a:prstGeom>
        </p:spPr>
      </p:pic>
    </p:spTree>
    <p:extLst>
      <p:ext uri="{BB962C8B-B14F-4D97-AF65-F5344CB8AC3E}">
        <p14:creationId xmlns:p14="http://schemas.microsoft.com/office/powerpoint/2010/main" val="399079050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D96F5CD-43EC-E029-4D5B-6431F5A928C8}"/>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1112137" y="658761"/>
            <a:ext cx="10164368" cy="5717457"/>
          </a:xfrm>
          <a:prstGeom prst="rect">
            <a:avLst/>
          </a:prstGeom>
        </p:spPr>
      </p:pic>
    </p:spTree>
    <p:extLst>
      <p:ext uri="{BB962C8B-B14F-4D97-AF65-F5344CB8AC3E}">
        <p14:creationId xmlns:p14="http://schemas.microsoft.com/office/powerpoint/2010/main" val="124515796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8F2B63-BE08-1B22-0BD9-F44455B79E0F}"/>
              </a:ext>
            </a:extLst>
          </p:cNvPr>
          <p:cNvSpPr>
            <a:spLocks noGrp="1"/>
          </p:cNvSpPr>
          <p:nvPr>
            <p:ph type="title"/>
          </p:nvPr>
        </p:nvSpPr>
        <p:spPr/>
        <p:txBody>
          <a:bodyPr/>
          <a:lstStyle/>
          <a:p>
            <a:pPr algn="ctr"/>
            <a:r>
              <a:rPr lang="en-IN" b="1" dirty="0"/>
              <a:t>PROJECT OUTCOMES</a:t>
            </a:r>
          </a:p>
        </p:txBody>
      </p:sp>
      <p:pic>
        <p:nvPicPr>
          <p:cNvPr id="7" name="Content Placeholder 6">
            <a:extLst>
              <a:ext uri="{FF2B5EF4-FFF2-40B4-BE49-F238E27FC236}">
                <a16:creationId xmlns:a16="http://schemas.microsoft.com/office/drawing/2014/main" id="{87877BFC-52FF-DD4B-432D-6F7E6C686C0D}"/>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474838" y="1408471"/>
            <a:ext cx="9134167" cy="5024906"/>
          </a:xfrm>
        </p:spPr>
      </p:pic>
    </p:spTree>
    <p:extLst>
      <p:ext uri="{BB962C8B-B14F-4D97-AF65-F5344CB8AC3E}">
        <p14:creationId xmlns:p14="http://schemas.microsoft.com/office/powerpoint/2010/main" val="271347464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167008-5ACB-0E67-4760-5D56CAE26C87}"/>
              </a:ext>
            </a:extLst>
          </p:cNvPr>
          <p:cNvSpPr>
            <a:spLocks noGrp="1"/>
          </p:cNvSpPr>
          <p:nvPr>
            <p:ph type="title"/>
          </p:nvPr>
        </p:nvSpPr>
        <p:spPr/>
        <p:txBody>
          <a:bodyPr/>
          <a:lstStyle/>
          <a:p>
            <a:r>
              <a:rPr lang="en-IN" dirty="0"/>
              <a:t>   </a:t>
            </a:r>
          </a:p>
        </p:txBody>
      </p:sp>
      <p:pic>
        <p:nvPicPr>
          <p:cNvPr id="5" name="Content Placeholder 4">
            <a:extLst>
              <a:ext uri="{FF2B5EF4-FFF2-40B4-BE49-F238E27FC236}">
                <a16:creationId xmlns:a16="http://schemas.microsoft.com/office/drawing/2014/main" id="{BF3F8CD1-DE5F-5830-3F4E-8D76EA10291C}"/>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366683" y="904568"/>
            <a:ext cx="9016258" cy="5211096"/>
          </a:xfrm>
        </p:spPr>
      </p:pic>
    </p:spTree>
    <p:extLst>
      <p:ext uri="{BB962C8B-B14F-4D97-AF65-F5344CB8AC3E}">
        <p14:creationId xmlns:p14="http://schemas.microsoft.com/office/powerpoint/2010/main" val="1616598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9FB065-1E2A-8EEF-F8E7-00EF4665627F}"/>
              </a:ext>
            </a:extLst>
          </p:cNvPr>
          <p:cNvSpPr>
            <a:spLocks noGrp="1"/>
          </p:cNvSpPr>
          <p:nvPr>
            <p:ph type="title"/>
          </p:nvPr>
        </p:nvSpPr>
        <p:spPr/>
        <p:txBody>
          <a:bodyPr/>
          <a:lstStyle/>
          <a:p>
            <a:r>
              <a:rPr lang="en-IN" dirty="0"/>
              <a:t> </a:t>
            </a:r>
          </a:p>
        </p:txBody>
      </p:sp>
      <p:pic>
        <p:nvPicPr>
          <p:cNvPr id="5" name="Content Placeholder 4">
            <a:extLst>
              <a:ext uri="{FF2B5EF4-FFF2-40B4-BE49-F238E27FC236}">
                <a16:creationId xmlns:a16="http://schemas.microsoft.com/office/drawing/2014/main" id="{377BD3E1-EB15-EDAB-3978-8EF2B2D3AD9E}"/>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764890" y="953730"/>
            <a:ext cx="8662220" cy="5105246"/>
          </a:xfrm>
        </p:spPr>
      </p:pic>
    </p:spTree>
    <p:extLst>
      <p:ext uri="{BB962C8B-B14F-4D97-AF65-F5344CB8AC3E}">
        <p14:creationId xmlns:p14="http://schemas.microsoft.com/office/powerpoint/2010/main" val="322669753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3C81B6-9C98-7848-2C84-03162E3B0CEF}"/>
              </a:ext>
            </a:extLst>
          </p:cNvPr>
          <p:cNvSpPr>
            <a:spLocks noGrp="1"/>
          </p:cNvSpPr>
          <p:nvPr>
            <p:ph type="title"/>
          </p:nvPr>
        </p:nvSpPr>
        <p:spPr/>
        <p:txBody>
          <a:bodyPr/>
          <a:lstStyle/>
          <a:p>
            <a:r>
              <a:rPr lang="en-US" b="1" dirty="0"/>
              <a:t>				CONCLUSION</a:t>
            </a:r>
            <a:endParaRPr lang="en-IN" b="1" dirty="0"/>
          </a:p>
        </p:txBody>
      </p:sp>
      <p:sp>
        <p:nvSpPr>
          <p:cNvPr id="3" name="Content Placeholder 2">
            <a:extLst>
              <a:ext uri="{FF2B5EF4-FFF2-40B4-BE49-F238E27FC236}">
                <a16:creationId xmlns:a16="http://schemas.microsoft.com/office/drawing/2014/main" id="{54971EF7-3CF8-A03D-8222-245206708271}"/>
              </a:ext>
            </a:extLst>
          </p:cNvPr>
          <p:cNvSpPr>
            <a:spLocks noGrp="1"/>
          </p:cNvSpPr>
          <p:nvPr>
            <p:ph idx="1"/>
          </p:nvPr>
        </p:nvSpPr>
        <p:spPr/>
        <p:txBody>
          <a:bodyPr>
            <a:normAutofit lnSpcReduction="10000"/>
          </a:bodyPr>
          <a:lstStyle/>
          <a:p>
            <a:pPr marL="0" indent="0" algn="just">
              <a:lnSpc>
                <a:spcPct val="100000"/>
              </a:lnSpc>
              <a:buNone/>
            </a:pPr>
            <a:r>
              <a:rPr lang="en-US" dirty="0"/>
              <a:t>		Alzheimer's </a:t>
            </a:r>
            <a:r>
              <a:rPr lang="en-US" sz="2800" dirty="0"/>
              <a:t>Syndrome</a:t>
            </a:r>
            <a:r>
              <a:rPr lang="en-US" dirty="0"/>
              <a:t> progresses from mild cognitive impairment to severe memory loss and dependency over four stages. Early diagnosis and intervention in the mild stage can help slow its progression. As the disease advances, comprehensive care and support become crucial for managing symptoms and ensuring multimodal analysis.</a:t>
            </a:r>
          </a:p>
          <a:p>
            <a:pPr marL="0" indent="0" algn="just">
              <a:buNone/>
            </a:pPr>
            <a:r>
              <a:rPr lang="en-US" dirty="0"/>
              <a:t>		H</a:t>
            </a:r>
            <a:r>
              <a:rPr lang="en-US" b="0" i="0" u="none" strike="noStrike" baseline="0" dirty="0"/>
              <a:t>ighly effective model in this study that utilizes the self-attention mechanism to classify multimodal data </a:t>
            </a:r>
            <a:r>
              <a:rPr lang="en-IN" b="0" i="0" u="none" strike="noStrike" baseline="0" dirty="0"/>
              <a:t>associated with Alzheimer’s disease.</a:t>
            </a:r>
            <a:r>
              <a:rPr lang="en-US" b="0" i="0" u="none" strike="noStrike" baseline="0" dirty="0"/>
              <a:t> Segmentation of brain MRI,PET,CT and 3D</a:t>
            </a:r>
            <a:r>
              <a:rPr lang="en-US" dirty="0"/>
              <a:t> </a:t>
            </a:r>
            <a:r>
              <a:rPr lang="en-US" b="0" i="0" u="none" strike="noStrike" baseline="0" dirty="0"/>
              <a:t>scans helps in their interpretation and categorization for diseases like Alzheimer’s.</a:t>
            </a:r>
            <a:endParaRPr lang="en-IN" dirty="0"/>
          </a:p>
        </p:txBody>
      </p:sp>
    </p:spTree>
    <p:extLst>
      <p:ext uri="{BB962C8B-B14F-4D97-AF65-F5344CB8AC3E}">
        <p14:creationId xmlns:p14="http://schemas.microsoft.com/office/powerpoint/2010/main" val="182514201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A3D196-6F00-D6FF-899A-FA717F3454B2}"/>
              </a:ext>
            </a:extLst>
          </p:cNvPr>
          <p:cNvSpPr>
            <a:spLocks noGrp="1"/>
          </p:cNvSpPr>
          <p:nvPr>
            <p:ph type="title"/>
          </p:nvPr>
        </p:nvSpPr>
        <p:spPr/>
        <p:txBody>
          <a:bodyPr/>
          <a:lstStyle/>
          <a:p>
            <a:r>
              <a:rPr lang="en-IN" b="1" dirty="0"/>
              <a:t>				REFERENCES</a:t>
            </a:r>
          </a:p>
        </p:txBody>
      </p:sp>
      <p:sp>
        <p:nvSpPr>
          <p:cNvPr id="3" name="Content Placeholder 2">
            <a:extLst>
              <a:ext uri="{FF2B5EF4-FFF2-40B4-BE49-F238E27FC236}">
                <a16:creationId xmlns:a16="http://schemas.microsoft.com/office/drawing/2014/main" id="{60B65536-0DE1-E451-68E6-81881EA37AAD}"/>
              </a:ext>
            </a:extLst>
          </p:cNvPr>
          <p:cNvSpPr>
            <a:spLocks noGrp="1"/>
          </p:cNvSpPr>
          <p:nvPr>
            <p:ph idx="1"/>
          </p:nvPr>
        </p:nvSpPr>
        <p:spPr>
          <a:xfrm>
            <a:off x="838200" y="1825625"/>
            <a:ext cx="10515600" cy="4786190"/>
          </a:xfrm>
        </p:spPr>
        <p:txBody>
          <a:bodyPr/>
          <a:lstStyle/>
          <a:p>
            <a:pPr algn="just">
              <a:lnSpc>
                <a:spcPct val="100000"/>
              </a:lnSpc>
            </a:pPr>
            <a:r>
              <a:rPr lang="en-US" sz="1800" b="0" i="0" u="none" strike="noStrike" baseline="0" dirty="0"/>
              <a:t>Z. Huang, X. Zhu, M. Ding, and X. Zhang, ‘‘Medical image classification using a light-weighted hybrid neural network based on </a:t>
            </a:r>
            <a:r>
              <a:rPr lang="en-US" sz="1800" b="0" i="0" u="none" strike="noStrike" baseline="0" dirty="0" err="1"/>
              <a:t>PCANet</a:t>
            </a:r>
            <a:r>
              <a:rPr lang="en-US" sz="1800" b="0" i="0" u="none" strike="noStrike" baseline="0" dirty="0"/>
              <a:t> and </a:t>
            </a:r>
            <a:r>
              <a:rPr lang="nl-NL" sz="1800" b="0" i="0" u="none" strike="noStrike" baseline="0" dirty="0"/>
              <a:t>DenseNet,’’ </a:t>
            </a:r>
            <a:r>
              <a:rPr lang="nl-NL" sz="1800" b="0" i="1" u="none" strike="noStrike" baseline="0" dirty="0"/>
              <a:t>IEEE Access</a:t>
            </a:r>
            <a:r>
              <a:rPr lang="nl-NL" sz="1800" b="0" i="0" u="none" strike="noStrike" baseline="0" dirty="0"/>
              <a:t>, vol. 8, pp. 24697–24712, 2020.</a:t>
            </a:r>
          </a:p>
          <a:p>
            <a:pPr algn="just">
              <a:lnSpc>
                <a:spcPct val="100000"/>
              </a:lnSpc>
            </a:pPr>
            <a:r>
              <a:rPr lang="en-IN" sz="1800" b="0" i="0" u="none" strike="noStrike" baseline="0" dirty="0"/>
              <a:t>R. K. Mishra, S. </a:t>
            </a:r>
            <a:r>
              <a:rPr lang="en-IN" sz="1800" b="0" i="0" u="none" strike="noStrike" baseline="0" dirty="0" err="1"/>
              <a:t>Urolagin</a:t>
            </a:r>
            <a:r>
              <a:rPr lang="en-IN" sz="1800" b="0" i="0" u="none" strike="noStrike" baseline="0" dirty="0"/>
              <a:t>, J. A. A. Jothi, A. S. </a:t>
            </a:r>
            <a:r>
              <a:rPr lang="en-IN" sz="1800" b="0" i="0" u="none" strike="noStrike" baseline="0" dirty="0" err="1"/>
              <a:t>Neogi</a:t>
            </a:r>
            <a:r>
              <a:rPr lang="en-IN" sz="1800" b="0" i="0" u="none" strike="noStrike" baseline="0" dirty="0"/>
              <a:t>, and N. Nawaz, </a:t>
            </a:r>
            <a:r>
              <a:rPr lang="en-US" sz="1800" b="0" i="0" u="none" strike="noStrike" baseline="0" dirty="0"/>
              <a:t>‘‘Deep learning-based sentiment analysis and topic modeling on tourism during COVID-19 pandemic,’’ </a:t>
            </a:r>
            <a:r>
              <a:rPr lang="en-US" sz="1800" b="0" i="1" u="none" strike="noStrike" baseline="0" dirty="0"/>
              <a:t>Frontiers </a:t>
            </a:r>
            <a:r>
              <a:rPr lang="en-US" sz="1800" b="0" i="1" u="none" strike="noStrike" baseline="0" dirty="0" err="1"/>
              <a:t>Comput</a:t>
            </a:r>
            <a:r>
              <a:rPr lang="en-US" sz="1800" b="0" i="1" u="none" strike="noStrike" baseline="0" dirty="0"/>
              <a:t>. Sci.</a:t>
            </a:r>
            <a:r>
              <a:rPr lang="en-US" sz="1800" b="0" i="0" u="none" strike="noStrike" baseline="0" dirty="0"/>
              <a:t>, vol. 3, pp. 1–10, </a:t>
            </a:r>
            <a:r>
              <a:rPr lang="en-IN" sz="1800" b="0" i="0" u="none" strike="noStrike" baseline="0" dirty="0"/>
              <a:t>Nov. 2021.</a:t>
            </a:r>
          </a:p>
          <a:p>
            <a:pPr algn="just">
              <a:lnSpc>
                <a:spcPct val="100000"/>
              </a:lnSpc>
            </a:pPr>
            <a:r>
              <a:rPr lang="it-IT" sz="1800" b="0" i="0" u="none" strike="noStrike" baseline="0" dirty="0"/>
              <a:t>Z. Pei, Y. Gou, M. Ma, M. Guo, C. Leng, Y. Chen, and J. Li, ‘‘Alzheimer’s </a:t>
            </a:r>
            <a:r>
              <a:rPr lang="en-US" sz="1800" b="0" i="0" u="none" strike="noStrike" baseline="0" dirty="0"/>
              <a:t>disease diagnosis based on long-range dependency mechanism using convolutional neural network,’’ </a:t>
            </a:r>
            <a:r>
              <a:rPr lang="en-US" sz="1800" b="0" i="1" u="none" strike="noStrike" baseline="0" dirty="0"/>
              <a:t>Multimedia Tools Appl.</a:t>
            </a:r>
            <a:r>
              <a:rPr lang="en-US" sz="1800" b="0" i="0" u="none" strike="noStrike" baseline="0" dirty="0"/>
              <a:t>, vol. 81, no. 25, </a:t>
            </a:r>
            <a:r>
              <a:rPr lang="en-IN" sz="1800" b="0" i="0" u="none" strike="noStrike" baseline="0" dirty="0"/>
              <a:t>pp. 36053–36068, Oct. 2022.</a:t>
            </a:r>
          </a:p>
          <a:p>
            <a:pPr algn="just">
              <a:lnSpc>
                <a:spcPct val="100000"/>
              </a:lnSpc>
            </a:pPr>
            <a:r>
              <a:rPr lang="en-US" sz="1800" b="0" i="0" u="none" strike="noStrike" baseline="0" dirty="0"/>
              <a:t>R. Gautam and M. Sharma, ‘‘Prevalence and diagnosis of neurological disorders using different deep learning techniques: A meta-analysis,’’ </a:t>
            </a:r>
            <a:r>
              <a:rPr lang="nn-NO" sz="1800" b="0" i="1" u="none" strike="noStrike" baseline="0" dirty="0"/>
              <a:t>J. Med. Syst.</a:t>
            </a:r>
            <a:r>
              <a:rPr lang="nn-NO" sz="1800" b="0" i="0" u="none" strike="noStrike" baseline="0" dirty="0"/>
              <a:t>, vol. 44, no. 2, pp. 1–24, Feb. 2020.</a:t>
            </a:r>
          </a:p>
          <a:p>
            <a:pPr algn="just">
              <a:lnSpc>
                <a:spcPct val="100000"/>
              </a:lnSpc>
            </a:pPr>
            <a:r>
              <a:rPr lang="en-IN" sz="1800" b="0" i="0" u="none" strike="noStrike" baseline="0" dirty="0"/>
              <a:t>M. Aparna and B. Srinivasa Rao, ‘‘</a:t>
            </a:r>
            <a:r>
              <a:rPr lang="en-IN" sz="1800" b="0" i="0" u="none" strike="noStrike" baseline="0" dirty="0" err="1"/>
              <a:t>Xception-FractalNet</a:t>
            </a:r>
            <a:r>
              <a:rPr lang="en-IN" sz="1800" b="0" i="0" u="none" strike="noStrike" baseline="0" dirty="0"/>
              <a:t>: Hybrid deep </a:t>
            </a:r>
            <a:r>
              <a:rPr lang="en-US" sz="1800" b="0" i="0" u="none" strike="noStrike" baseline="0" dirty="0"/>
              <a:t>learning based multi-class classification of Alzheimer’s disease,’’ </a:t>
            </a:r>
            <a:r>
              <a:rPr lang="en-US" sz="1800" b="0" i="1" u="none" strike="noStrike" baseline="0" dirty="0" err="1"/>
              <a:t>Comput</a:t>
            </a:r>
            <a:r>
              <a:rPr lang="en-US" sz="1800" b="0" i="1" u="none" strike="noStrike" baseline="0" dirty="0"/>
              <a:t>., </a:t>
            </a:r>
            <a:r>
              <a:rPr lang="en-IN" sz="1800" b="0" i="1" u="none" strike="noStrike" baseline="0" dirty="0"/>
              <a:t>Mater. Continua</a:t>
            </a:r>
            <a:r>
              <a:rPr lang="en-IN" sz="1800" b="0" i="0" u="none" strike="noStrike" baseline="0" dirty="0"/>
              <a:t>, vol. 74, no. 3, pp. 6909–6932, 2023.</a:t>
            </a:r>
          </a:p>
          <a:p>
            <a:pPr algn="just">
              <a:lnSpc>
                <a:spcPct val="100000"/>
              </a:lnSpc>
            </a:pPr>
            <a:r>
              <a:rPr lang="en-IN" sz="1800" dirty="0"/>
              <a:t>S. M. Anwar, M. Majid, A. Qayyum, M. </a:t>
            </a:r>
            <a:r>
              <a:rPr lang="en-IN" sz="1800" dirty="0" err="1"/>
              <a:t>Awais</a:t>
            </a:r>
            <a:r>
              <a:rPr lang="en-IN" sz="1800" dirty="0"/>
              <a:t>, M. </a:t>
            </a:r>
            <a:r>
              <a:rPr lang="en-IN" sz="1800" dirty="0" err="1"/>
              <a:t>Alnowami</a:t>
            </a:r>
            <a:r>
              <a:rPr lang="en-IN" sz="1800" dirty="0"/>
              <a:t>, and M. K. Khan, ‘‘Medical image analysis using convolutional neural networks: A review,’’ J. Med. Syst., </a:t>
            </a:r>
            <a:r>
              <a:rPr lang="en-US" sz="1800" dirty="0"/>
              <a:t>vol. 42, no. 11, p. 226, Oct. 2018.</a:t>
            </a:r>
            <a:endParaRPr lang="en-IN" sz="1800" b="0" i="0" u="none" strike="noStrike" baseline="0" dirty="0"/>
          </a:p>
          <a:p>
            <a:pPr algn="just">
              <a:lnSpc>
                <a:spcPct val="100000"/>
              </a:lnSpc>
            </a:pPr>
            <a:endParaRPr lang="en-IN" sz="1800" b="0" i="0" u="none" strike="noStrike" baseline="0" dirty="0">
              <a:latin typeface="TimesLTStd-Roman"/>
            </a:endParaRPr>
          </a:p>
          <a:p>
            <a:pPr algn="just">
              <a:lnSpc>
                <a:spcPct val="100000"/>
              </a:lnSpc>
            </a:pPr>
            <a:endParaRPr lang="en-IN" dirty="0"/>
          </a:p>
        </p:txBody>
      </p:sp>
    </p:spTree>
    <p:extLst>
      <p:ext uri="{BB962C8B-B14F-4D97-AF65-F5344CB8AC3E}">
        <p14:creationId xmlns:p14="http://schemas.microsoft.com/office/powerpoint/2010/main" val="88799201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58A59F7-FE80-E032-DE7F-EF775F8C57C0}"/>
              </a:ext>
            </a:extLst>
          </p:cNvPr>
          <p:cNvSpPr>
            <a:spLocks noGrp="1"/>
          </p:cNvSpPr>
          <p:nvPr>
            <p:ph idx="1"/>
          </p:nvPr>
        </p:nvSpPr>
        <p:spPr>
          <a:xfrm>
            <a:off x="804746" y="782301"/>
            <a:ext cx="10515600" cy="5417777"/>
          </a:xfrm>
        </p:spPr>
        <p:txBody>
          <a:bodyPr>
            <a:noAutofit/>
          </a:bodyPr>
          <a:lstStyle/>
          <a:p>
            <a:pPr algn="just">
              <a:lnSpc>
                <a:spcPct val="100000"/>
              </a:lnSpc>
            </a:pPr>
            <a:r>
              <a:rPr lang="en-IN" sz="1800" dirty="0"/>
              <a:t>R. Azad, A. </a:t>
            </a:r>
            <a:r>
              <a:rPr lang="en-IN" sz="1800" dirty="0" err="1"/>
              <a:t>Kazerouni</a:t>
            </a:r>
            <a:r>
              <a:rPr lang="en-IN" sz="1800" dirty="0"/>
              <a:t>, M. </a:t>
            </a:r>
            <a:r>
              <a:rPr lang="en-IN" sz="1800" dirty="0" err="1"/>
              <a:t>Heidari</a:t>
            </a:r>
            <a:r>
              <a:rPr lang="en-IN" sz="1800" dirty="0"/>
              <a:t>, E. </a:t>
            </a:r>
            <a:r>
              <a:rPr lang="en-IN" sz="1800" dirty="0" err="1"/>
              <a:t>Khodapanah</a:t>
            </a:r>
            <a:r>
              <a:rPr lang="en-IN" sz="1800" dirty="0"/>
              <a:t> Aghdam, A. </a:t>
            </a:r>
            <a:r>
              <a:rPr lang="en-IN" sz="1800" dirty="0" err="1"/>
              <a:t>Molaei</a:t>
            </a:r>
            <a:r>
              <a:rPr lang="en-IN" sz="1800" dirty="0"/>
              <a:t>, Y. Jia, A. Jose, R. Roy, and D. </a:t>
            </a:r>
            <a:r>
              <a:rPr lang="en-IN" sz="1800" dirty="0" err="1"/>
              <a:t>Merhof</a:t>
            </a:r>
            <a:r>
              <a:rPr lang="en-IN" sz="1800" dirty="0"/>
              <a:t>, ‘‘Advances in medical image analysis with vision transformers: A comprehensive review,’’ 2023, arXiv:2301.03505. </a:t>
            </a:r>
          </a:p>
          <a:p>
            <a:pPr algn="just">
              <a:lnSpc>
                <a:spcPct val="100000"/>
              </a:lnSpc>
            </a:pPr>
            <a:r>
              <a:rPr lang="en-IN" sz="1800" dirty="0"/>
              <a:t>K. Han, Y. Wang, H. Chen, X. Chen, J. Guo, Z. Liu, Y. Tang, A. Xiao, C. Xu, Y. Xu, Z. Yang, Y. Zhang, and D. Tao, ‘‘A survey on vision transformer,’’ IEEE Trans. Pattern Anal. Mach. </a:t>
            </a:r>
            <a:r>
              <a:rPr lang="en-IN" sz="1800" dirty="0" err="1"/>
              <a:t>Intell</a:t>
            </a:r>
            <a:r>
              <a:rPr lang="en-IN" sz="1800" dirty="0"/>
              <a:t>., vol. 45, no. 1, pp. 87–110, Jan. 2023, </a:t>
            </a:r>
            <a:r>
              <a:rPr lang="en-IN" sz="1800" dirty="0" err="1"/>
              <a:t>doi</a:t>
            </a:r>
            <a:r>
              <a:rPr lang="en-IN" sz="1800" dirty="0"/>
              <a:t>: 10.1109/TPAMI.2022.3152247. </a:t>
            </a:r>
          </a:p>
          <a:p>
            <a:pPr algn="just">
              <a:lnSpc>
                <a:spcPct val="100000"/>
              </a:lnSpc>
            </a:pPr>
            <a:r>
              <a:rPr lang="en-IN" sz="1800" dirty="0"/>
              <a:t>M. Raghu, T. </a:t>
            </a:r>
            <a:r>
              <a:rPr lang="en-IN" sz="1800" dirty="0" err="1"/>
              <a:t>Unterthiner</a:t>
            </a:r>
            <a:r>
              <a:rPr lang="en-IN" sz="1800" dirty="0"/>
              <a:t>, S. </a:t>
            </a:r>
            <a:r>
              <a:rPr lang="en-IN" sz="1800" dirty="0" err="1"/>
              <a:t>Kornblith</a:t>
            </a:r>
            <a:r>
              <a:rPr lang="en-IN" sz="1800" dirty="0"/>
              <a:t>, C. Zhang, and A. </a:t>
            </a:r>
            <a:r>
              <a:rPr lang="en-IN" sz="1800" dirty="0" err="1"/>
              <a:t>Dosovitskiy</a:t>
            </a:r>
            <a:r>
              <a:rPr lang="en-IN" sz="1800" dirty="0"/>
              <a:t>, ‘‘Do vision transformers see like convolutional neural networks?’’ 2021, arXiv:2108.08810.</a:t>
            </a:r>
          </a:p>
          <a:p>
            <a:pPr algn="just">
              <a:lnSpc>
                <a:spcPct val="100000"/>
              </a:lnSpc>
            </a:pPr>
            <a:r>
              <a:rPr lang="en-IN" sz="1800" dirty="0"/>
              <a:t>G. </a:t>
            </a:r>
            <a:r>
              <a:rPr lang="en-IN" sz="1800" dirty="0" err="1"/>
              <a:t>Hcini</a:t>
            </a:r>
            <a:r>
              <a:rPr lang="en-IN" sz="1800" dirty="0"/>
              <a:t>, I. </a:t>
            </a:r>
            <a:r>
              <a:rPr lang="en-IN" sz="1800" dirty="0" err="1"/>
              <a:t>Jdey</a:t>
            </a:r>
            <a:r>
              <a:rPr lang="en-IN" sz="1800" dirty="0"/>
              <a:t>, and H. </a:t>
            </a:r>
            <a:r>
              <a:rPr lang="en-IN" sz="1800" dirty="0" err="1"/>
              <a:t>Dhahri</a:t>
            </a:r>
            <a:r>
              <a:rPr lang="en-IN" sz="1800" dirty="0"/>
              <a:t>, ‘‘Investigating deep learning for early detection and decision-making in Alzheimer’s disease: A comprehensive review,’’ Neural Process. Lett., vol. 56, no. 3, p. 153, Apr. 2024, </a:t>
            </a:r>
            <a:r>
              <a:rPr lang="en-IN" sz="1800" dirty="0" err="1"/>
              <a:t>doi</a:t>
            </a:r>
            <a:r>
              <a:rPr lang="en-IN" sz="1800" dirty="0"/>
              <a:t>: 10.1007/s11063-024-11600-5. </a:t>
            </a:r>
          </a:p>
          <a:p>
            <a:pPr algn="just">
              <a:lnSpc>
                <a:spcPct val="100000"/>
              </a:lnSpc>
            </a:pPr>
            <a:r>
              <a:rPr lang="en-IN" sz="1800" dirty="0"/>
              <a:t>G. M. Hoang, U.-H. Kim, and J. G. Kim, ‘‘Vision transformers for the prediction of mild cognitive impairment to Alzheimer’s disease progression using mid-sagittal </a:t>
            </a:r>
            <a:r>
              <a:rPr lang="en-IN" sz="1800" dirty="0" err="1"/>
              <a:t>sMRI</a:t>
            </a:r>
            <a:r>
              <a:rPr lang="en-IN" sz="1800" dirty="0"/>
              <a:t>,’’ Frontiers Aging </a:t>
            </a:r>
            <a:r>
              <a:rPr lang="en-IN" sz="1800" dirty="0" err="1"/>
              <a:t>Neurosci</a:t>
            </a:r>
            <a:r>
              <a:rPr lang="en-IN" sz="1800" dirty="0"/>
              <a:t>., vol. 15, Apr. 2023, Art. no. 1102869. </a:t>
            </a:r>
          </a:p>
          <a:p>
            <a:pPr algn="just">
              <a:lnSpc>
                <a:spcPct val="100000"/>
              </a:lnSpc>
            </a:pPr>
            <a:r>
              <a:rPr lang="en-IN" sz="1800" dirty="0"/>
              <a:t>H. Shin, S. Jeon, Y. Seol, S. Kim, and D. Kang, ‘‘Vision transformer approach for classification of Alzheimer’s disease using 18F-florbetaben brain images,’’ Appl. Sci., vol. 13, no. 6, p. 3453, Mar. 2023, </a:t>
            </a:r>
            <a:r>
              <a:rPr lang="en-IN" sz="1800" dirty="0" err="1"/>
              <a:t>doi</a:t>
            </a:r>
            <a:r>
              <a:rPr lang="en-IN" sz="1800" dirty="0"/>
              <a:t>: 10.3390/app13063453.</a:t>
            </a:r>
          </a:p>
        </p:txBody>
      </p:sp>
    </p:spTree>
    <p:extLst>
      <p:ext uri="{BB962C8B-B14F-4D97-AF65-F5344CB8AC3E}">
        <p14:creationId xmlns:p14="http://schemas.microsoft.com/office/powerpoint/2010/main" val="363566214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59ED03-264D-CF4F-0C35-020EA5F3B2D4}"/>
              </a:ext>
            </a:extLst>
          </p:cNvPr>
          <p:cNvSpPr>
            <a:spLocks noGrp="1"/>
          </p:cNvSpPr>
          <p:nvPr>
            <p:ph type="title"/>
          </p:nvPr>
        </p:nvSpPr>
        <p:spPr>
          <a:xfrm>
            <a:off x="3786648" y="2766218"/>
            <a:ext cx="4618703" cy="1325563"/>
          </a:xfrm>
        </p:spPr>
        <p:txBody>
          <a:bodyPr>
            <a:normAutofit/>
          </a:bodyPr>
          <a:lstStyle/>
          <a:p>
            <a:r>
              <a:rPr lang="en-IN" sz="5400" b="1" dirty="0"/>
              <a:t>THANK YOU!...</a:t>
            </a:r>
          </a:p>
        </p:txBody>
      </p:sp>
    </p:spTree>
    <p:extLst>
      <p:ext uri="{BB962C8B-B14F-4D97-AF65-F5344CB8AC3E}">
        <p14:creationId xmlns:p14="http://schemas.microsoft.com/office/powerpoint/2010/main" val="286784935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2282</TotalTime>
  <Words>1857</Words>
  <Application>Microsoft Office PowerPoint</Application>
  <PresentationFormat>Widescreen</PresentationFormat>
  <Paragraphs>138</Paragraphs>
  <Slides>21</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21</vt:i4>
      </vt:variant>
    </vt:vector>
  </HeadingPairs>
  <TitlesOfParts>
    <vt:vector size="27" baseType="lpstr">
      <vt:lpstr>Arial</vt:lpstr>
      <vt:lpstr>Calibri</vt:lpstr>
      <vt:lpstr>Calibri (Body)</vt:lpstr>
      <vt:lpstr>Calibri Light</vt:lpstr>
      <vt:lpstr>TimesLTStd-Roman</vt:lpstr>
      <vt:lpstr>Office Theme</vt:lpstr>
      <vt:lpstr>                ALZHEIMER SYNDROME  RECOGNITION USING DENSENET FOR MULTIMODAL ANALYSIS</vt:lpstr>
      <vt:lpstr>OBJECTIVE</vt:lpstr>
      <vt:lpstr>       ABSTRACT</vt:lpstr>
      <vt:lpstr>      LITERATURE SURVEY</vt:lpstr>
      <vt:lpstr>   </vt:lpstr>
      <vt:lpstr>                        EXISTING SYSTEM</vt:lpstr>
      <vt:lpstr>                     PROPOSED SYSTEM</vt:lpstr>
      <vt:lpstr>     FUNCTIONAL DIAGRAM</vt:lpstr>
      <vt:lpstr>   MODULES DESCRIPTION</vt:lpstr>
      <vt:lpstr>   MODULES DESCRIPTION</vt:lpstr>
      <vt:lpstr>    FINAL OUTPUTS</vt:lpstr>
      <vt:lpstr>PowerPoint Presentation</vt:lpstr>
      <vt:lpstr>PowerPoint Presentation</vt:lpstr>
      <vt:lpstr>PowerPoint Presentation</vt:lpstr>
      <vt:lpstr>PROJECT OUTCOMES</vt:lpstr>
      <vt:lpstr>   </vt:lpstr>
      <vt:lpstr> </vt:lpstr>
      <vt:lpstr>    CONCLUSION</vt:lpstr>
      <vt:lpstr>    REFERENCES</vt:lpstr>
      <vt:lpstr>PowerPoint Presentation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ALZHEIMER SYNDROME  RECOGNITION USING DENSENET FOR MULTIMODEL ANALYSIS</dc:title>
  <dc:creator>mk</dc:creator>
  <cp:lastModifiedBy>Manikandan L</cp:lastModifiedBy>
  <cp:revision>78</cp:revision>
  <dcterms:created xsi:type="dcterms:W3CDTF">2024-09-20T14:59:50Z</dcterms:created>
  <dcterms:modified xsi:type="dcterms:W3CDTF">2025-04-09T09:42:59Z</dcterms:modified>
</cp:coreProperties>
</file>
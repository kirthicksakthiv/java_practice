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3" r:id="rId5"/>
    <p:sldId id="264" r:id="rId6"/>
    <p:sldId id="259" r:id="rId7"/>
    <p:sldId id="260" r:id="rId8"/>
    <p:sldId id="266" r:id="rId9"/>
    <p:sldId id="261" r:id="rId10"/>
    <p:sldId id="269" r:id="rId11"/>
    <p:sldId id="270" r:id="rId12"/>
    <p:sldId id="271" r:id="rId13"/>
    <p:sldId id="262" r:id="rId14"/>
    <p:sldId id="267" r:id="rId15"/>
    <p:sldId id="272"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68" d="100"/>
          <a:sy n="68" d="100"/>
        </p:scale>
        <p:origin x="8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063F6-3A67-9D63-3175-320C32A4C6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A13E53C-7DAF-9C69-3286-C06A6E86F2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697788-8199-8953-8554-16691E3A2B5D}"/>
              </a:ext>
            </a:extLst>
          </p:cNvPr>
          <p:cNvSpPr>
            <a:spLocks noGrp="1"/>
          </p:cNvSpPr>
          <p:nvPr>
            <p:ph type="dt" sz="half" idx="10"/>
          </p:nvPr>
        </p:nvSpPr>
        <p:spPr/>
        <p:txBody>
          <a:bodyPr/>
          <a:lstStyle/>
          <a:p>
            <a:fld id="{E03248AF-EFFE-4E13-9E58-447EE26071F3}" type="datetimeFigureOut">
              <a:rPr lang="en-IN" smtClean="0"/>
              <a:t>04-12-2025</a:t>
            </a:fld>
            <a:endParaRPr lang="en-IN"/>
          </a:p>
        </p:txBody>
      </p:sp>
      <p:sp>
        <p:nvSpPr>
          <p:cNvPr id="5" name="Footer Placeholder 4">
            <a:extLst>
              <a:ext uri="{FF2B5EF4-FFF2-40B4-BE49-F238E27FC236}">
                <a16:creationId xmlns:a16="http://schemas.microsoft.com/office/drawing/2014/main" id="{A2035B28-9AE1-1A52-3F15-90E0D14765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9D742D-F086-1C59-3D38-C9F62BBE01FF}"/>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2435090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D58C5-73F0-CD37-7982-B3F1A3DC5A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E4218E6-9D0F-E9B7-3490-52C3E66CAA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E5E891-7942-ECEC-9BC6-E9851CBB169D}"/>
              </a:ext>
            </a:extLst>
          </p:cNvPr>
          <p:cNvSpPr>
            <a:spLocks noGrp="1"/>
          </p:cNvSpPr>
          <p:nvPr>
            <p:ph type="dt" sz="half" idx="10"/>
          </p:nvPr>
        </p:nvSpPr>
        <p:spPr/>
        <p:txBody>
          <a:bodyPr/>
          <a:lstStyle/>
          <a:p>
            <a:fld id="{E03248AF-EFFE-4E13-9E58-447EE26071F3}" type="datetimeFigureOut">
              <a:rPr lang="en-IN" smtClean="0"/>
              <a:t>04-12-2025</a:t>
            </a:fld>
            <a:endParaRPr lang="en-IN"/>
          </a:p>
        </p:txBody>
      </p:sp>
      <p:sp>
        <p:nvSpPr>
          <p:cNvPr id="5" name="Footer Placeholder 4">
            <a:extLst>
              <a:ext uri="{FF2B5EF4-FFF2-40B4-BE49-F238E27FC236}">
                <a16:creationId xmlns:a16="http://schemas.microsoft.com/office/drawing/2014/main" id="{C49B14D9-4519-3706-26F3-1F969C7D79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9431B8-2732-8F97-F97B-4CEE8FD337AD}"/>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247490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E2A03-2AA3-DA2A-E854-D50519F835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64CEBA-09DA-AEC3-4926-73DA64A4A3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BC56A6-F6F1-A7EA-39E1-6A3F657C82D7}"/>
              </a:ext>
            </a:extLst>
          </p:cNvPr>
          <p:cNvSpPr>
            <a:spLocks noGrp="1"/>
          </p:cNvSpPr>
          <p:nvPr>
            <p:ph type="dt" sz="half" idx="10"/>
          </p:nvPr>
        </p:nvSpPr>
        <p:spPr/>
        <p:txBody>
          <a:bodyPr/>
          <a:lstStyle/>
          <a:p>
            <a:fld id="{E03248AF-EFFE-4E13-9E58-447EE26071F3}" type="datetimeFigureOut">
              <a:rPr lang="en-IN" smtClean="0"/>
              <a:t>04-12-2025</a:t>
            </a:fld>
            <a:endParaRPr lang="en-IN"/>
          </a:p>
        </p:txBody>
      </p:sp>
      <p:sp>
        <p:nvSpPr>
          <p:cNvPr id="5" name="Footer Placeholder 4">
            <a:extLst>
              <a:ext uri="{FF2B5EF4-FFF2-40B4-BE49-F238E27FC236}">
                <a16:creationId xmlns:a16="http://schemas.microsoft.com/office/drawing/2014/main" id="{EBFEA30A-8E5F-931E-4575-A847BDC972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FDBAD4-E915-985A-56C8-349EAEAF72B0}"/>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3760386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35BB5-81FD-4F78-AB40-C346FA42C4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0F8D1A-51CD-F1E0-0497-A270DD25FD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0A4C7C3-4A58-0791-AC87-A12B5F7A7B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8A011E-9542-672B-4041-E5E4552135FF}"/>
              </a:ext>
            </a:extLst>
          </p:cNvPr>
          <p:cNvSpPr>
            <a:spLocks noGrp="1"/>
          </p:cNvSpPr>
          <p:nvPr>
            <p:ph type="dt" sz="half" idx="10"/>
          </p:nvPr>
        </p:nvSpPr>
        <p:spPr/>
        <p:txBody>
          <a:bodyPr/>
          <a:lstStyle/>
          <a:p>
            <a:fld id="{E03248AF-EFFE-4E13-9E58-447EE26071F3}" type="datetimeFigureOut">
              <a:rPr lang="en-IN" smtClean="0"/>
              <a:t>04-12-2025</a:t>
            </a:fld>
            <a:endParaRPr lang="en-IN"/>
          </a:p>
        </p:txBody>
      </p:sp>
      <p:sp>
        <p:nvSpPr>
          <p:cNvPr id="6" name="Footer Placeholder 5">
            <a:extLst>
              <a:ext uri="{FF2B5EF4-FFF2-40B4-BE49-F238E27FC236}">
                <a16:creationId xmlns:a16="http://schemas.microsoft.com/office/drawing/2014/main" id="{46D5623B-6FA7-0E48-E1D4-042F28872E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9E7342-E7F1-B458-92E9-BF1CFDEF92CE}"/>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73877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959A1-9EA3-EF62-096A-E2577955CC2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28CC05-D08C-574E-8591-8EB59B377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B1C0BD-BB80-B9BE-1934-B0CE22F41D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1DBB814-B431-BF60-A605-DBA39DDCA8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81478B-1B0C-B864-F77D-CC591C2E86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13F9B42-D30E-4BD4-D085-8AE039E7B02E}"/>
              </a:ext>
            </a:extLst>
          </p:cNvPr>
          <p:cNvSpPr>
            <a:spLocks noGrp="1"/>
          </p:cNvSpPr>
          <p:nvPr>
            <p:ph type="dt" sz="half" idx="10"/>
          </p:nvPr>
        </p:nvSpPr>
        <p:spPr/>
        <p:txBody>
          <a:bodyPr/>
          <a:lstStyle/>
          <a:p>
            <a:fld id="{E03248AF-EFFE-4E13-9E58-447EE26071F3}" type="datetimeFigureOut">
              <a:rPr lang="en-IN" smtClean="0"/>
              <a:t>04-12-2025</a:t>
            </a:fld>
            <a:endParaRPr lang="en-IN"/>
          </a:p>
        </p:txBody>
      </p:sp>
      <p:sp>
        <p:nvSpPr>
          <p:cNvPr id="8" name="Footer Placeholder 7">
            <a:extLst>
              <a:ext uri="{FF2B5EF4-FFF2-40B4-BE49-F238E27FC236}">
                <a16:creationId xmlns:a16="http://schemas.microsoft.com/office/drawing/2014/main" id="{51833453-6425-1864-31D8-6CC2986F477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E70FEC7-849C-E171-11BB-8BC1689B503B}"/>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671717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C0304-799E-4C30-E487-9FFBFAC0F4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FE6663-57D9-1A2D-54BC-7116C5C3955F}"/>
              </a:ext>
            </a:extLst>
          </p:cNvPr>
          <p:cNvSpPr>
            <a:spLocks noGrp="1"/>
          </p:cNvSpPr>
          <p:nvPr>
            <p:ph type="dt" sz="half" idx="10"/>
          </p:nvPr>
        </p:nvSpPr>
        <p:spPr/>
        <p:txBody>
          <a:bodyPr/>
          <a:lstStyle/>
          <a:p>
            <a:fld id="{E03248AF-EFFE-4E13-9E58-447EE26071F3}" type="datetimeFigureOut">
              <a:rPr lang="en-IN" smtClean="0"/>
              <a:t>04-12-2025</a:t>
            </a:fld>
            <a:endParaRPr lang="en-IN"/>
          </a:p>
        </p:txBody>
      </p:sp>
      <p:sp>
        <p:nvSpPr>
          <p:cNvPr id="4" name="Footer Placeholder 3">
            <a:extLst>
              <a:ext uri="{FF2B5EF4-FFF2-40B4-BE49-F238E27FC236}">
                <a16:creationId xmlns:a16="http://schemas.microsoft.com/office/drawing/2014/main" id="{07E08F68-2A53-F873-CF52-1A240A6CF0D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29BE36-1B64-9E87-645A-603822B50BC9}"/>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927404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C92369-579D-A4F9-4ADF-F06F37C60DB6}"/>
              </a:ext>
            </a:extLst>
          </p:cNvPr>
          <p:cNvSpPr>
            <a:spLocks noGrp="1"/>
          </p:cNvSpPr>
          <p:nvPr>
            <p:ph type="dt" sz="half" idx="10"/>
          </p:nvPr>
        </p:nvSpPr>
        <p:spPr/>
        <p:txBody>
          <a:bodyPr/>
          <a:lstStyle/>
          <a:p>
            <a:fld id="{E03248AF-EFFE-4E13-9E58-447EE26071F3}" type="datetimeFigureOut">
              <a:rPr lang="en-IN" smtClean="0"/>
              <a:t>04-12-2025</a:t>
            </a:fld>
            <a:endParaRPr lang="en-IN"/>
          </a:p>
        </p:txBody>
      </p:sp>
      <p:sp>
        <p:nvSpPr>
          <p:cNvPr id="3" name="Footer Placeholder 2">
            <a:extLst>
              <a:ext uri="{FF2B5EF4-FFF2-40B4-BE49-F238E27FC236}">
                <a16:creationId xmlns:a16="http://schemas.microsoft.com/office/drawing/2014/main" id="{D912D867-BD5B-5503-6C21-43EBDD7D8E2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A7C2782-90EE-5403-12CF-EE9C387230C2}"/>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374706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CE8EA-AAEB-63C5-51D0-DDC6415728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51EF1A3-EC5C-BE09-3A44-1874A23301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6496F5-EFB4-4352-11FB-8D26E1157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D981EE-C695-45D9-B7C1-45C05F304E15}"/>
              </a:ext>
            </a:extLst>
          </p:cNvPr>
          <p:cNvSpPr>
            <a:spLocks noGrp="1"/>
          </p:cNvSpPr>
          <p:nvPr>
            <p:ph type="dt" sz="half" idx="10"/>
          </p:nvPr>
        </p:nvSpPr>
        <p:spPr/>
        <p:txBody>
          <a:bodyPr/>
          <a:lstStyle/>
          <a:p>
            <a:fld id="{E03248AF-EFFE-4E13-9E58-447EE26071F3}" type="datetimeFigureOut">
              <a:rPr lang="en-IN" smtClean="0"/>
              <a:t>04-12-2025</a:t>
            </a:fld>
            <a:endParaRPr lang="en-IN"/>
          </a:p>
        </p:txBody>
      </p:sp>
      <p:sp>
        <p:nvSpPr>
          <p:cNvPr id="6" name="Footer Placeholder 5">
            <a:extLst>
              <a:ext uri="{FF2B5EF4-FFF2-40B4-BE49-F238E27FC236}">
                <a16:creationId xmlns:a16="http://schemas.microsoft.com/office/drawing/2014/main" id="{D3420E36-DADB-D0FF-6308-F1CFE69ACD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E71D5A-091A-635C-DD65-E2FFC7C361AA}"/>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1506721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B4F4A-69C3-4C27-0426-74C6812412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332FD6-4578-858F-D34E-92249D1E00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3E6D970-E959-EDEF-BE11-18AD5F48F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2867DC-3F9F-17B4-162E-F9694FF35762}"/>
              </a:ext>
            </a:extLst>
          </p:cNvPr>
          <p:cNvSpPr>
            <a:spLocks noGrp="1"/>
          </p:cNvSpPr>
          <p:nvPr>
            <p:ph type="dt" sz="half" idx="10"/>
          </p:nvPr>
        </p:nvSpPr>
        <p:spPr/>
        <p:txBody>
          <a:bodyPr/>
          <a:lstStyle/>
          <a:p>
            <a:fld id="{E03248AF-EFFE-4E13-9E58-447EE26071F3}" type="datetimeFigureOut">
              <a:rPr lang="en-IN" smtClean="0"/>
              <a:t>04-12-2025</a:t>
            </a:fld>
            <a:endParaRPr lang="en-IN"/>
          </a:p>
        </p:txBody>
      </p:sp>
      <p:sp>
        <p:nvSpPr>
          <p:cNvPr id="6" name="Footer Placeholder 5">
            <a:extLst>
              <a:ext uri="{FF2B5EF4-FFF2-40B4-BE49-F238E27FC236}">
                <a16:creationId xmlns:a16="http://schemas.microsoft.com/office/drawing/2014/main" id="{D2A3F414-AE1C-3C1B-762E-167A597156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5A29B0-51B6-5B0F-962A-978DCBD59A4B}"/>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1746014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0CA89-81CE-6F17-D31B-4DCF8F5E605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75FAB1-ECDA-0466-38B9-F4FAD91C5D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A34F1F-6484-2D9E-93D8-07191DD23479}"/>
              </a:ext>
            </a:extLst>
          </p:cNvPr>
          <p:cNvSpPr>
            <a:spLocks noGrp="1"/>
          </p:cNvSpPr>
          <p:nvPr>
            <p:ph type="dt" sz="half" idx="10"/>
          </p:nvPr>
        </p:nvSpPr>
        <p:spPr/>
        <p:txBody>
          <a:bodyPr/>
          <a:lstStyle/>
          <a:p>
            <a:fld id="{E03248AF-EFFE-4E13-9E58-447EE26071F3}" type="datetimeFigureOut">
              <a:rPr lang="en-IN" smtClean="0"/>
              <a:t>04-12-2025</a:t>
            </a:fld>
            <a:endParaRPr lang="en-IN"/>
          </a:p>
        </p:txBody>
      </p:sp>
      <p:sp>
        <p:nvSpPr>
          <p:cNvPr id="5" name="Footer Placeholder 4">
            <a:extLst>
              <a:ext uri="{FF2B5EF4-FFF2-40B4-BE49-F238E27FC236}">
                <a16:creationId xmlns:a16="http://schemas.microsoft.com/office/drawing/2014/main" id="{A0856254-813C-A2AF-D09A-3EC78EDE5D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FAF7D2-4706-BEE2-6538-4B4062B24558}"/>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364485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A2A272-03AD-B40C-2F6E-8181FA14401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8212FE-817E-F555-0986-A932A03BC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AF9B88-6F3D-95C0-FFD3-5FE1FCED3390}"/>
              </a:ext>
            </a:extLst>
          </p:cNvPr>
          <p:cNvSpPr>
            <a:spLocks noGrp="1"/>
          </p:cNvSpPr>
          <p:nvPr>
            <p:ph type="dt" sz="half" idx="10"/>
          </p:nvPr>
        </p:nvSpPr>
        <p:spPr/>
        <p:txBody>
          <a:bodyPr/>
          <a:lstStyle/>
          <a:p>
            <a:fld id="{E03248AF-EFFE-4E13-9E58-447EE26071F3}" type="datetimeFigureOut">
              <a:rPr lang="en-IN" smtClean="0"/>
              <a:t>04-12-2025</a:t>
            </a:fld>
            <a:endParaRPr lang="en-IN"/>
          </a:p>
        </p:txBody>
      </p:sp>
      <p:sp>
        <p:nvSpPr>
          <p:cNvPr id="5" name="Footer Placeholder 4">
            <a:extLst>
              <a:ext uri="{FF2B5EF4-FFF2-40B4-BE49-F238E27FC236}">
                <a16:creationId xmlns:a16="http://schemas.microsoft.com/office/drawing/2014/main" id="{839919B2-524E-102D-0A3E-E7C6584EF9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78582E-348D-DC4F-3A2C-E2077C6A2522}"/>
              </a:ext>
            </a:extLst>
          </p:cNvPr>
          <p:cNvSpPr>
            <a:spLocks noGrp="1"/>
          </p:cNvSpPr>
          <p:nvPr>
            <p:ph type="sldNum" sz="quarter" idx="12"/>
          </p:nvPr>
        </p:nvSpPr>
        <p:spPr/>
        <p:txBody>
          <a:bodyPr/>
          <a:lstStyle/>
          <a:p>
            <a:fld id="{3D4A264F-7DEF-4CD1-BD78-0623DCBC1ED0}" type="slidenum">
              <a:rPr lang="en-IN" smtClean="0"/>
              <a:t>‹#›</a:t>
            </a:fld>
            <a:endParaRPr lang="en-IN"/>
          </a:p>
        </p:txBody>
      </p:sp>
    </p:spTree>
    <p:extLst>
      <p:ext uri="{BB962C8B-B14F-4D97-AF65-F5344CB8AC3E}">
        <p14:creationId xmlns:p14="http://schemas.microsoft.com/office/powerpoint/2010/main" val="1993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8CA833-BE1A-2AB5-E4EA-B2487FF5C3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72819F-918B-F58D-36A7-1868AFA688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19F03B-225F-9061-1CFC-182CAC5889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3248AF-EFFE-4E13-9E58-447EE26071F3}" type="datetimeFigureOut">
              <a:rPr lang="en-IN" smtClean="0"/>
              <a:t>04-12-2025</a:t>
            </a:fld>
            <a:endParaRPr lang="en-IN"/>
          </a:p>
        </p:txBody>
      </p:sp>
      <p:sp>
        <p:nvSpPr>
          <p:cNvPr id="5" name="Footer Placeholder 4">
            <a:extLst>
              <a:ext uri="{FF2B5EF4-FFF2-40B4-BE49-F238E27FC236}">
                <a16:creationId xmlns:a16="http://schemas.microsoft.com/office/drawing/2014/main" id="{8F6CF4F0-60C2-8400-8B82-CDA8A7E1F4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9A022A5-438A-BF0C-6111-BB87E9179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4A264F-7DEF-4CD1-BD78-0623DCBC1ED0}" type="slidenum">
              <a:rPr lang="en-IN" smtClean="0"/>
              <a:t>‹#›</a:t>
            </a:fld>
            <a:endParaRPr lang="en-IN"/>
          </a:p>
        </p:txBody>
      </p:sp>
    </p:spTree>
    <p:extLst>
      <p:ext uri="{BB962C8B-B14F-4D97-AF65-F5344CB8AC3E}">
        <p14:creationId xmlns:p14="http://schemas.microsoft.com/office/powerpoint/2010/main" val="3122955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0DB07-56A2-900B-ED52-0D527B77828C}"/>
              </a:ext>
            </a:extLst>
          </p:cNvPr>
          <p:cNvSpPr>
            <a:spLocks noGrp="1"/>
          </p:cNvSpPr>
          <p:nvPr>
            <p:ph type="ctrTitle"/>
          </p:nvPr>
        </p:nvSpPr>
        <p:spPr>
          <a:xfrm>
            <a:off x="1524000" y="827396"/>
            <a:ext cx="9144000" cy="3491386"/>
          </a:xfrm>
        </p:spPr>
        <p:txBody>
          <a:bodyPr>
            <a:normAutofit fontScale="90000"/>
          </a:bodyPr>
          <a:lstStyle/>
          <a:p>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br>
              <a:rPr lang="en-US" sz="6000" b="1" dirty="0"/>
            </a:br>
            <a:r>
              <a:rPr lang="en-US" sz="6100" b="1" dirty="0"/>
              <a:t>ALZHEIMER SYNDROME</a:t>
            </a:r>
            <a:br>
              <a:rPr lang="en-US" sz="6100" b="1" dirty="0"/>
            </a:br>
            <a:r>
              <a:rPr lang="en-US" sz="6100" b="1" dirty="0"/>
              <a:t> RECOGNITION</a:t>
            </a:r>
            <a:endParaRPr lang="en-IN" sz="6100" b="1" dirty="0"/>
          </a:p>
        </p:txBody>
      </p:sp>
      <p:sp>
        <p:nvSpPr>
          <p:cNvPr id="3" name="Subtitle 2">
            <a:extLst>
              <a:ext uri="{FF2B5EF4-FFF2-40B4-BE49-F238E27FC236}">
                <a16:creationId xmlns:a16="http://schemas.microsoft.com/office/drawing/2014/main" id="{31949C86-30BC-F782-DAAD-FE8C7176E12D}"/>
              </a:ext>
            </a:extLst>
          </p:cNvPr>
          <p:cNvSpPr>
            <a:spLocks noGrp="1"/>
          </p:cNvSpPr>
          <p:nvPr>
            <p:ph type="subTitle" idx="1"/>
          </p:nvPr>
        </p:nvSpPr>
        <p:spPr>
          <a:xfrm>
            <a:off x="629264" y="4670473"/>
            <a:ext cx="10953136" cy="1856935"/>
          </a:xfrm>
        </p:spPr>
        <p:txBody>
          <a:bodyPr>
            <a:normAutofit/>
          </a:bodyPr>
          <a:lstStyle/>
          <a:p>
            <a:pPr algn="l"/>
            <a:r>
              <a:rPr lang="en-IN" dirty="0"/>
              <a:t>            TEAM MEMBERS                                                                           GUIDED BY </a:t>
            </a:r>
          </a:p>
          <a:p>
            <a:pPr algn="l"/>
            <a:r>
              <a:rPr lang="en-IN" dirty="0"/>
              <a:t>    KIRTHICK SAKTHI V (21CS046)                                                  </a:t>
            </a:r>
            <a:r>
              <a:rPr lang="en-US" dirty="0"/>
              <a:t>Mrs. S. SUJITHA  AP/CSE</a:t>
            </a:r>
            <a:endParaRPr lang="en-IN" dirty="0"/>
          </a:p>
          <a:p>
            <a:pPr algn="l"/>
            <a:r>
              <a:rPr lang="en-IN" dirty="0"/>
              <a:t>    MANIKANDAN L (21CS055)</a:t>
            </a:r>
          </a:p>
          <a:p>
            <a:pPr algn="l"/>
            <a:r>
              <a:rPr lang="en-IN" dirty="0"/>
              <a:t>    MANOJKUMAR K (21CS056)</a:t>
            </a:r>
          </a:p>
        </p:txBody>
      </p:sp>
      <p:pic>
        <p:nvPicPr>
          <p:cNvPr id="6" name="Google Shape;180;p1">
            <a:extLst>
              <a:ext uri="{FF2B5EF4-FFF2-40B4-BE49-F238E27FC236}">
                <a16:creationId xmlns:a16="http://schemas.microsoft.com/office/drawing/2014/main" id="{0EF08D06-882A-C0E6-B014-AA205A8CC980}"/>
              </a:ext>
            </a:extLst>
          </p:cNvPr>
          <p:cNvPicPr preferRelativeResize="0"/>
          <p:nvPr/>
        </p:nvPicPr>
        <p:blipFill rotWithShape="1">
          <a:blip r:embed="rId2">
            <a:alphaModFix/>
          </a:blip>
          <a:srcRect/>
          <a:stretch/>
        </p:blipFill>
        <p:spPr>
          <a:xfrm>
            <a:off x="1460057" y="461524"/>
            <a:ext cx="9130187" cy="1726003"/>
          </a:xfrm>
          <a:prstGeom prst="rect">
            <a:avLst/>
          </a:prstGeom>
          <a:noFill/>
          <a:ln>
            <a:noFill/>
          </a:ln>
        </p:spPr>
      </p:pic>
    </p:spTree>
    <p:extLst>
      <p:ext uri="{BB962C8B-B14F-4D97-AF65-F5344CB8AC3E}">
        <p14:creationId xmlns:p14="http://schemas.microsoft.com/office/powerpoint/2010/main" val="1828694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886C0-FB55-5D80-B9C3-8A36901F64C6}"/>
              </a:ext>
            </a:extLst>
          </p:cNvPr>
          <p:cNvSpPr>
            <a:spLocks noGrp="1"/>
          </p:cNvSpPr>
          <p:nvPr>
            <p:ph type="title"/>
          </p:nvPr>
        </p:nvSpPr>
        <p:spPr/>
        <p:txBody>
          <a:bodyPr/>
          <a:lstStyle/>
          <a:p>
            <a:pPr algn="ctr"/>
            <a:r>
              <a:rPr lang="en-US" b="1" dirty="0"/>
              <a:t>OBJECTIVE</a:t>
            </a:r>
            <a:endParaRPr lang="en-IN" b="1" dirty="0"/>
          </a:p>
        </p:txBody>
      </p:sp>
      <p:sp>
        <p:nvSpPr>
          <p:cNvPr id="3" name="Content Placeholder 2">
            <a:extLst>
              <a:ext uri="{FF2B5EF4-FFF2-40B4-BE49-F238E27FC236}">
                <a16:creationId xmlns:a16="http://schemas.microsoft.com/office/drawing/2014/main" id="{1A696994-0963-88F0-98CC-F71EF665FA2B}"/>
              </a:ext>
            </a:extLst>
          </p:cNvPr>
          <p:cNvSpPr>
            <a:spLocks noGrp="1"/>
          </p:cNvSpPr>
          <p:nvPr>
            <p:ph idx="1"/>
          </p:nvPr>
        </p:nvSpPr>
        <p:spPr>
          <a:xfrm>
            <a:off x="838200" y="1609316"/>
            <a:ext cx="10515600" cy="4351338"/>
          </a:xfrm>
        </p:spPr>
        <p:txBody>
          <a:bodyPr>
            <a:normAutofit fontScale="92500"/>
          </a:bodyPr>
          <a:lstStyle/>
          <a:p>
            <a:pPr algn="just">
              <a:lnSpc>
                <a:spcPct val="150000"/>
              </a:lnSpc>
            </a:pPr>
            <a:r>
              <a:rPr lang="en-US" dirty="0"/>
              <a:t>T</a:t>
            </a:r>
            <a:r>
              <a:rPr lang="en-US" sz="2800" dirty="0"/>
              <a:t>o understand risk factors need to collect data on genetics, lifestyle and health history.</a:t>
            </a:r>
          </a:p>
          <a:p>
            <a:pPr algn="just">
              <a:lnSpc>
                <a:spcPct val="150000"/>
              </a:lnSpc>
            </a:pPr>
            <a:r>
              <a:rPr lang="en-US" dirty="0"/>
              <a:t>T</a:t>
            </a:r>
            <a:r>
              <a:rPr lang="en-US" sz="2800" dirty="0"/>
              <a:t>o develop tools that can predict who might be at higher risk. With these predictions, able to identify individuals symptoms before appear.</a:t>
            </a:r>
          </a:p>
          <a:p>
            <a:pPr algn="just">
              <a:lnSpc>
                <a:spcPct val="150000"/>
              </a:lnSpc>
            </a:pPr>
            <a:r>
              <a:rPr lang="en-US" sz="2800" dirty="0"/>
              <a:t>To start early interventions, such as treatments or lifestyle changes, to help delay or prevent the disease and improve quality of life.</a:t>
            </a:r>
          </a:p>
          <a:p>
            <a:pPr>
              <a:lnSpc>
                <a:spcPct val="150000"/>
              </a:lnSpc>
            </a:pPr>
            <a:endParaRPr lang="en-US" dirty="0"/>
          </a:p>
          <a:p>
            <a:pPr marL="0" indent="0">
              <a:lnSpc>
                <a:spcPct val="100000"/>
              </a:lnSpc>
              <a:buNone/>
            </a:pPr>
            <a:endParaRPr lang="en-IN" dirty="0"/>
          </a:p>
        </p:txBody>
      </p:sp>
    </p:spTree>
    <p:extLst>
      <p:ext uri="{BB962C8B-B14F-4D97-AF65-F5344CB8AC3E}">
        <p14:creationId xmlns:p14="http://schemas.microsoft.com/office/powerpoint/2010/main" val="1005283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05942-2C76-F422-7584-5BA0EE28F5B6}"/>
              </a:ext>
            </a:extLst>
          </p:cNvPr>
          <p:cNvSpPr>
            <a:spLocks noGrp="1"/>
          </p:cNvSpPr>
          <p:nvPr>
            <p:ph type="title"/>
          </p:nvPr>
        </p:nvSpPr>
        <p:spPr/>
        <p:txBody>
          <a:bodyPr/>
          <a:lstStyle/>
          <a:p>
            <a:r>
              <a:rPr lang="en-US" b="1" dirty="0"/>
              <a:t>				   ABSTRACT</a:t>
            </a:r>
            <a:endParaRPr lang="en-IN" b="1" dirty="0"/>
          </a:p>
        </p:txBody>
      </p:sp>
      <p:sp>
        <p:nvSpPr>
          <p:cNvPr id="3" name="Content Placeholder 2">
            <a:extLst>
              <a:ext uri="{FF2B5EF4-FFF2-40B4-BE49-F238E27FC236}">
                <a16:creationId xmlns:a16="http://schemas.microsoft.com/office/drawing/2014/main" id="{4276AA6F-9A12-8BBA-68F6-605743742213}"/>
              </a:ext>
            </a:extLst>
          </p:cNvPr>
          <p:cNvSpPr>
            <a:spLocks noGrp="1"/>
          </p:cNvSpPr>
          <p:nvPr>
            <p:ph idx="1"/>
          </p:nvPr>
        </p:nvSpPr>
        <p:spPr>
          <a:xfrm>
            <a:off x="838200" y="1690688"/>
            <a:ext cx="10515600" cy="4351338"/>
          </a:xfrm>
        </p:spPr>
        <p:txBody>
          <a:bodyPr>
            <a:normAutofit fontScale="92500" lnSpcReduction="20000"/>
          </a:bodyPr>
          <a:lstStyle/>
          <a:p>
            <a:pPr algn="just">
              <a:lnSpc>
                <a:spcPct val="150000"/>
              </a:lnSpc>
            </a:pPr>
            <a:r>
              <a:rPr lang="en-US" dirty="0"/>
              <a:t>Alzheimer's syndrome is classified using a deep learning-based leverages MRI brain images. By utilizing a pre-trained </a:t>
            </a:r>
            <a:r>
              <a:rPr lang="en-US" dirty="0" err="1"/>
              <a:t>ResNet</a:t>
            </a:r>
            <a:r>
              <a:rPr lang="en-US" dirty="0"/>
              <a:t> model, it classifies brain scans into four categories: Non-Demented, Very Mild Demented, Mild Demented, and Moderate Demented.</a:t>
            </a:r>
          </a:p>
          <a:p>
            <a:pPr algn="just">
              <a:lnSpc>
                <a:spcPct val="150000"/>
              </a:lnSpc>
            </a:pPr>
            <a:r>
              <a:rPr lang="en-US" dirty="0"/>
              <a:t>Convolutional Neural Networks (CNNs) play a crucial role in Alzheimer's </a:t>
            </a:r>
            <a:r>
              <a:rPr lang="en-US" sz="2800" dirty="0"/>
              <a:t>Syndrome</a:t>
            </a:r>
            <a:r>
              <a:rPr lang="en-US" dirty="0"/>
              <a:t>(AS) diagnosis through MRI scan analysis. Afterward, the model predicts the likelihood of Alzheimer's progression across the four classification categories.</a:t>
            </a:r>
          </a:p>
        </p:txBody>
      </p:sp>
    </p:spTree>
    <p:extLst>
      <p:ext uri="{BB962C8B-B14F-4D97-AF65-F5344CB8AC3E}">
        <p14:creationId xmlns:p14="http://schemas.microsoft.com/office/powerpoint/2010/main" val="877296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7CCB-7052-ACB4-EECF-AC0D9738A6D1}"/>
              </a:ext>
            </a:extLst>
          </p:cNvPr>
          <p:cNvSpPr>
            <a:spLocks noGrp="1"/>
          </p:cNvSpPr>
          <p:nvPr>
            <p:ph type="title"/>
          </p:nvPr>
        </p:nvSpPr>
        <p:spPr>
          <a:xfrm>
            <a:off x="838200" y="148816"/>
            <a:ext cx="10515600" cy="1011391"/>
          </a:xfrm>
        </p:spPr>
        <p:txBody>
          <a:bodyPr>
            <a:normAutofit/>
          </a:bodyPr>
          <a:lstStyle/>
          <a:p>
            <a:r>
              <a:rPr lang="en-IN" sz="4400" b="1" dirty="0"/>
              <a:t>			   LITERATURE SURVEY</a:t>
            </a:r>
            <a:endParaRPr lang="en-IN" dirty="0"/>
          </a:p>
        </p:txBody>
      </p:sp>
      <p:graphicFrame>
        <p:nvGraphicFramePr>
          <p:cNvPr id="4" name="Table 3">
            <a:extLst>
              <a:ext uri="{FF2B5EF4-FFF2-40B4-BE49-F238E27FC236}">
                <a16:creationId xmlns:a16="http://schemas.microsoft.com/office/drawing/2014/main" id="{927D69F8-D7D3-1340-D0AA-C8817DCB51AC}"/>
              </a:ext>
            </a:extLst>
          </p:cNvPr>
          <p:cNvGraphicFramePr>
            <a:graphicFrameLocks noGrp="1"/>
          </p:cNvGraphicFramePr>
          <p:nvPr>
            <p:extLst>
              <p:ext uri="{D42A27DB-BD31-4B8C-83A1-F6EECF244321}">
                <p14:modId xmlns:p14="http://schemas.microsoft.com/office/powerpoint/2010/main" val="2879864016"/>
              </p:ext>
            </p:extLst>
          </p:nvPr>
        </p:nvGraphicFramePr>
        <p:xfrm>
          <a:off x="979538" y="1002035"/>
          <a:ext cx="10232923" cy="5449052"/>
        </p:xfrm>
        <a:graphic>
          <a:graphicData uri="http://schemas.openxmlformats.org/drawingml/2006/table">
            <a:tbl>
              <a:tblPr firstRow="1" bandRow="1">
                <a:tableStyleId>{5C22544A-7EE6-4342-B048-85BDC9FD1C3A}</a:tableStyleId>
              </a:tblPr>
              <a:tblGrid>
                <a:gridCol w="2996323">
                  <a:extLst>
                    <a:ext uri="{9D8B030D-6E8A-4147-A177-3AD203B41FA5}">
                      <a16:colId xmlns:a16="http://schemas.microsoft.com/office/drawing/2014/main" val="2102848486"/>
                    </a:ext>
                  </a:extLst>
                </a:gridCol>
                <a:gridCol w="1752361">
                  <a:extLst>
                    <a:ext uri="{9D8B030D-6E8A-4147-A177-3AD203B41FA5}">
                      <a16:colId xmlns:a16="http://schemas.microsoft.com/office/drawing/2014/main" val="420311303"/>
                    </a:ext>
                  </a:extLst>
                </a:gridCol>
                <a:gridCol w="1903799">
                  <a:extLst>
                    <a:ext uri="{9D8B030D-6E8A-4147-A177-3AD203B41FA5}">
                      <a16:colId xmlns:a16="http://schemas.microsoft.com/office/drawing/2014/main" val="2301321813"/>
                    </a:ext>
                  </a:extLst>
                </a:gridCol>
                <a:gridCol w="1471117">
                  <a:extLst>
                    <a:ext uri="{9D8B030D-6E8A-4147-A177-3AD203B41FA5}">
                      <a16:colId xmlns:a16="http://schemas.microsoft.com/office/drawing/2014/main" val="1353392388"/>
                    </a:ext>
                  </a:extLst>
                </a:gridCol>
                <a:gridCol w="2109323">
                  <a:extLst>
                    <a:ext uri="{9D8B030D-6E8A-4147-A177-3AD203B41FA5}">
                      <a16:colId xmlns:a16="http://schemas.microsoft.com/office/drawing/2014/main" val="142059139"/>
                    </a:ext>
                  </a:extLst>
                </a:gridCol>
              </a:tblGrid>
              <a:tr h="987166">
                <a:tc>
                  <a:txBody>
                    <a:bodyPr/>
                    <a:lstStyle/>
                    <a:p>
                      <a:endParaRPr lang="en-IN" dirty="0"/>
                    </a:p>
                    <a:p>
                      <a:r>
                        <a:rPr lang="en-IN" dirty="0"/>
                        <a:t>    Paper Title</a:t>
                      </a:r>
                    </a:p>
                  </a:txBody>
                  <a:tcPr/>
                </a:tc>
                <a:tc>
                  <a:txBody>
                    <a:bodyPr/>
                    <a:lstStyle/>
                    <a:p>
                      <a:endParaRPr lang="en-IN" dirty="0"/>
                    </a:p>
                    <a:p>
                      <a:r>
                        <a:rPr lang="en-IN" dirty="0"/>
                        <a:t>      Author</a:t>
                      </a:r>
                    </a:p>
                  </a:txBody>
                  <a:tcPr/>
                </a:tc>
                <a:tc>
                  <a:txBody>
                    <a:bodyPr/>
                    <a:lstStyle/>
                    <a:p>
                      <a:endParaRPr lang="en-IN" dirty="0"/>
                    </a:p>
                    <a:p>
                      <a:r>
                        <a:rPr lang="en-IN" dirty="0"/>
                        <a:t> Journal Name</a:t>
                      </a:r>
                    </a:p>
                  </a:txBody>
                  <a:tcPr/>
                </a:tc>
                <a:tc>
                  <a:txBody>
                    <a:bodyPr/>
                    <a:lstStyle/>
                    <a:p>
                      <a:endParaRPr lang="en-IN" dirty="0"/>
                    </a:p>
                    <a:p>
                      <a:r>
                        <a:rPr lang="en-IN" dirty="0"/>
                        <a:t>         Year</a:t>
                      </a:r>
                    </a:p>
                  </a:txBody>
                  <a:tcPr/>
                </a:tc>
                <a:tc>
                  <a:txBody>
                    <a:bodyPr/>
                    <a:lstStyle/>
                    <a:p>
                      <a:endParaRPr lang="en-IN" dirty="0"/>
                    </a:p>
                    <a:p>
                      <a:r>
                        <a:rPr lang="en-IN" dirty="0"/>
                        <a:t>    Key Points</a:t>
                      </a:r>
                    </a:p>
                  </a:txBody>
                  <a:tcPr/>
                </a:tc>
                <a:extLst>
                  <a:ext uri="{0D108BD9-81ED-4DB2-BD59-A6C34878D82A}">
                    <a16:rowId xmlns:a16="http://schemas.microsoft.com/office/drawing/2014/main" val="1404210103"/>
                  </a:ext>
                </a:extLst>
              </a:tr>
              <a:tr h="987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u="none" strike="noStrike" baseline="0" dirty="0">
                          <a:latin typeface="Calibri (Body)"/>
                        </a:rPr>
                        <a:t>Alzheimer’s Disease and Mild Cognitive Impairment Detection Using MRI With Efficient Receptive Field and Enhanced </a:t>
                      </a:r>
                      <a:r>
                        <a:rPr lang="en-IN" sz="1500" b="0" i="0" u="none" strike="noStrike" baseline="0" dirty="0">
                          <a:latin typeface="Calibri (Body)"/>
                        </a:rPr>
                        <a:t>Multi-Axis Attention Fusion.</a:t>
                      </a:r>
                      <a:endParaRPr lang="en-IN" sz="1500" dirty="0">
                        <a:latin typeface="Calibri (Body)"/>
                      </a:endParaRPr>
                    </a:p>
                  </a:txBody>
                  <a:tcPr/>
                </a:tc>
                <a:tc>
                  <a:txBody>
                    <a:bodyPr/>
                    <a:lstStyle/>
                    <a:p>
                      <a:endParaRPr lang="en-IN" sz="1500" dirty="0"/>
                    </a:p>
                    <a:p>
                      <a:endParaRPr lang="en-IN" sz="1500" dirty="0"/>
                    </a:p>
                    <a:p>
                      <a:r>
                        <a:rPr lang="en-IN" sz="1500" dirty="0"/>
                        <a:t>UTTAM KHATRI</a:t>
                      </a:r>
                    </a:p>
                  </a:txBody>
                  <a:tcPr/>
                </a:tc>
                <a:tc>
                  <a:txBody>
                    <a:bodyPr/>
                    <a:lstStyle/>
                    <a:p>
                      <a:r>
                        <a:rPr lang="en-US" sz="1500" dirty="0"/>
                        <a:t>IEEE Journal of Biomedical and Health Informatics.</a:t>
                      </a:r>
                      <a:endParaRPr lang="en-IN" sz="1500" dirty="0"/>
                    </a:p>
                  </a:txBody>
                  <a:tcPr/>
                </a:tc>
                <a:tc>
                  <a:txBody>
                    <a:bodyPr/>
                    <a:lstStyle/>
                    <a:p>
                      <a:endParaRPr lang="en-IN" sz="1500" dirty="0"/>
                    </a:p>
                    <a:p>
                      <a:r>
                        <a:rPr lang="en-IN" sz="1500" dirty="0"/>
                        <a:t>       2024</a:t>
                      </a:r>
                    </a:p>
                  </a:txBody>
                  <a:tcPr/>
                </a:tc>
                <a:tc>
                  <a:txBody>
                    <a:bodyPr/>
                    <a:lstStyle/>
                    <a:p>
                      <a:r>
                        <a:rPr lang="en-US" sz="1500" dirty="0"/>
                        <a:t>Detect Alzheimer's and Mild Cognitive Impairment early.</a:t>
                      </a:r>
                      <a:endParaRPr lang="en-IN" sz="1500" dirty="0"/>
                    </a:p>
                  </a:txBody>
                  <a:tcPr/>
                </a:tc>
                <a:extLst>
                  <a:ext uri="{0D108BD9-81ED-4DB2-BD59-A6C34878D82A}">
                    <a16:rowId xmlns:a16="http://schemas.microsoft.com/office/drawing/2014/main" val="1444189948"/>
                  </a:ext>
                </a:extLst>
              </a:tr>
              <a:tr h="987166">
                <a:tc>
                  <a:txBody>
                    <a:bodyPr/>
                    <a:lstStyle/>
                    <a:p>
                      <a:r>
                        <a:rPr lang="en-US" sz="1500" dirty="0"/>
                        <a:t>A Review on Alzheimer’s Disease Through Analysis of MRI Images Using Deep Learning Techniques</a:t>
                      </a:r>
                      <a:endParaRPr lang="en-IN" sz="1500" dirty="0"/>
                    </a:p>
                  </a:txBody>
                  <a:tcPr/>
                </a:tc>
                <a:tc>
                  <a:txBody>
                    <a:bodyPr/>
                    <a:lstStyle/>
                    <a:p>
                      <a:r>
                        <a:rPr lang="en-IN" sz="1500" dirty="0"/>
                        <a:t>BATTULA SRINIVASA RAO</a:t>
                      </a:r>
                    </a:p>
                  </a:txBody>
                  <a:tcPr/>
                </a:tc>
                <a:tc>
                  <a:txBody>
                    <a:bodyPr/>
                    <a:lstStyle/>
                    <a:p>
                      <a:r>
                        <a:rPr lang="en-IN" sz="1500" dirty="0"/>
                        <a:t>IEEE Xplore</a:t>
                      </a:r>
                    </a:p>
                  </a:txBody>
                  <a:tcPr/>
                </a:tc>
                <a:tc>
                  <a:txBody>
                    <a:bodyPr/>
                    <a:lstStyle/>
                    <a:p>
                      <a:r>
                        <a:rPr lang="en-IN" sz="1500" dirty="0"/>
                        <a:t>       </a:t>
                      </a:r>
                    </a:p>
                    <a:p>
                      <a:r>
                        <a:rPr lang="en-IN" sz="1500" dirty="0"/>
                        <a:t>       2024</a:t>
                      </a:r>
                    </a:p>
                  </a:txBody>
                  <a:tcPr/>
                </a:tc>
                <a:tc>
                  <a:txBody>
                    <a:bodyPr/>
                    <a:lstStyle/>
                    <a:p>
                      <a:r>
                        <a:rPr lang="en-US" sz="1500" dirty="0"/>
                        <a:t>Detecting Alzheimer Disease early by analyzing MRI scans using deep learning.</a:t>
                      </a:r>
                      <a:endParaRPr lang="en-IN" sz="1500" dirty="0"/>
                    </a:p>
                  </a:txBody>
                  <a:tcPr/>
                </a:tc>
                <a:extLst>
                  <a:ext uri="{0D108BD9-81ED-4DB2-BD59-A6C34878D82A}">
                    <a16:rowId xmlns:a16="http://schemas.microsoft.com/office/drawing/2014/main" val="2386906911"/>
                  </a:ext>
                </a:extLst>
              </a:tr>
              <a:tr h="987166">
                <a:tc>
                  <a:txBody>
                    <a:bodyPr/>
                    <a:lstStyle/>
                    <a:p>
                      <a:r>
                        <a:rPr lang="en-US" sz="1500" b="0" i="0" u="none" strike="noStrike" kern="1200" baseline="0" dirty="0">
                          <a:solidFill>
                            <a:schemeClr val="dk1"/>
                          </a:solidFill>
                          <a:latin typeface="+mn-lt"/>
                          <a:ea typeface="+mn-ea"/>
                          <a:cs typeface="+mn-cs"/>
                        </a:rPr>
                        <a:t>Alzheimer's Diseases Detection by Using Deep </a:t>
                      </a:r>
                      <a:r>
                        <a:rPr lang="en-IN" sz="1500" b="0" i="0" u="none" strike="noStrike" kern="1200" baseline="0" dirty="0">
                          <a:solidFill>
                            <a:schemeClr val="dk1"/>
                          </a:solidFill>
                          <a:latin typeface="+mn-lt"/>
                          <a:ea typeface="+mn-ea"/>
                          <a:cs typeface="+mn-cs"/>
                        </a:rPr>
                        <a:t>Learning Algorithms: A Mini-Review</a:t>
                      </a:r>
                      <a:endParaRPr lang="en-IN" sz="1500" dirty="0"/>
                    </a:p>
                  </a:txBody>
                  <a:tcPr/>
                </a:tc>
                <a:tc>
                  <a:txBody>
                    <a:bodyPr/>
                    <a:lstStyle/>
                    <a:p>
                      <a:r>
                        <a:rPr lang="en-IN" sz="1500" b="0" i="0" u="none" strike="noStrike" kern="1200" baseline="0" dirty="0">
                          <a:solidFill>
                            <a:schemeClr val="dk1"/>
                          </a:solidFill>
                          <a:latin typeface="+mn-lt"/>
                          <a:ea typeface="+mn-ea"/>
                          <a:cs typeface="+mn-cs"/>
                        </a:rPr>
                        <a:t>SUHAD AL-SHOUKRY,</a:t>
                      </a:r>
                    </a:p>
                    <a:p>
                      <a:r>
                        <a:rPr lang="en-IN" sz="1500" b="0" i="0" u="none" strike="noStrike" kern="1200" baseline="0" dirty="0">
                          <a:solidFill>
                            <a:schemeClr val="dk1"/>
                          </a:solidFill>
                          <a:latin typeface="+mn-lt"/>
                          <a:ea typeface="+mn-ea"/>
                          <a:cs typeface="+mn-cs"/>
                        </a:rPr>
                        <a:t>TAHA H. RASSEM</a:t>
                      </a:r>
                      <a:endParaRPr lang="en-IN" sz="1500" dirty="0"/>
                    </a:p>
                  </a:txBody>
                  <a:tcPr/>
                </a:tc>
                <a:tc>
                  <a:txBody>
                    <a:bodyPr/>
                    <a:lstStyle/>
                    <a:p>
                      <a:r>
                        <a:rPr lang="en-US" sz="1500" dirty="0"/>
                        <a:t>IEEE Transactions on Medical Imaging</a:t>
                      </a:r>
                      <a:endParaRPr lang="en-IN" sz="1500" dirty="0"/>
                    </a:p>
                  </a:txBody>
                  <a:tcPr/>
                </a:tc>
                <a:tc>
                  <a:txBody>
                    <a:bodyPr/>
                    <a:lstStyle/>
                    <a:p>
                      <a:r>
                        <a:rPr lang="en-IN" sz="1500" dirty="0"/>
                        <a:t>      </a:t>
                      </a:r>
                    </a:p>
                    <a:p>
                      <a:r>
                        <a:rPr lang="en-IN" sz="1500" dirty="0"/>
                        <a:t>       2023</a:t>
                      </a:r>
                    </a:p>
                  </a:txBody>
                  <a:tcPr/>
                </a:tc>
                <a:tc>
                  <a:txBody>
                    <a:bodyPr/>
                    <a:lstStyle/>
                    <a:p>
                      <a:r>
                        <a:rPr lang="en-US" sz="1500" dirty="0"/>
                        <a:t>Deep learning can help identify AD at an earlier stage.</a:t>
                      </a:r>
                      <a:endParaRPr lang="en-IN" sz="1500" dirty="0"/>
                    </a:p>
                  </a:txBody>
                  <a:tcPr/>
                </a:tc>
                <a:extLst>
                  <a:ext uri="{0D108BD9-81ED-4DB2-BD59-A6C34878D82A}">
                    <a16:rowId xmlns:a16="http://schemas.microsoft.com/office/drawing/2014/main" val="799608036"/>
                  </a:ext>
                </a:extLst>
              </a:tr>
              <a:tr h="987166">
                <a:tc>
                  <a:txBody>
                    <a:bodyPr/>
                    <a:lstStyle/>
                    <a:p>
                      <a:r>
                        <a:rPr lang="en-US" sz="1500" dirty="0"/>
                        <a:t>Multimodal 3D Deep Learning for Early Diagnosis of Alzheimer’s Disease </a:t>
                      </a:r>
                      <a:endParaRPr lang="en-IN" sz="1500" dirty="0"/>
                    </a:p>
                  </a:txBody>
                  <a:tcPr/>
                </a:tc>
                <a:tc>
                  <a:txBody>
                    <a:bodyPr/>
                    <a:lstStyle/>
                    <a:p>
                      <a:r>
                        <a:rPr lang="en-IN" sz="1500" dirty="0"/>
                        <a:t>SEUNG KYU KIM</a:t>
                      </a:r>
                    </a:p>
                  </a:txBody>
                  <a:tcPr/>
                </a:tc>
                <a:tc>
                  <a:txBody>
                    <a:bodyPr/>
                    <a:lstStyle/>
                    <a:p>
                      <a:r>
                        <a:rPr lang="en-US" sz="1500" dirty="0"/>
                        <a:t>IEEE Transactions on Neural Networks and Learning Systems</a:t>
                      </a:r>
                      <a:endParaRPr lang="en-IN" sz="1500" dirty="0"/>
                    </a:p>
                  </a:txBody>
                  <a:tcPr/>
                </a:tc>
                <a:tc>
                  <a:txBody>
                    <a:bodyPr/>
                    <a:lstStyle/>
                    <a:p>
                      <a:endParaRPr lang="en-IN" sz="1500" dirty="0"/>
                    </a:p>
                    <a:p>
                      <a:r>
                        <a:rPr lang="en-IN" sz="1500" dirty="0"/>
                        <a:t>       2023</a:t>
                      </a:r>
                    </a:p>
                  </a:txBody>
                  <a:tcPr/>
                </a:tc>
                <a:tc>
                  <a:txBody>
                    <a:bodyPr/>
                    <a:lstStyle/>
                    <a:p>
                      <a:r>
                        <a:rPr lang="en-US" sz="1500" dirty="0"/>
                        <a:t>Multimodal 3D deep learning provides a faster and more accurate way to diagnose AD.</a:t>
                      </a:r>
                      <a:endParaRPr lang="en-IN" sz="1500" dirty="0"/>
                    </a:p>
                  </a:txBody>
                  <a:tcPr/>
                </a:tc>
                <a:extLst>
                  <a:ext uri="{0D108BD9-81ED-4DB2-BD59-A6C34878D82A}">
                    <a16:rowId xmlns:a16="http://schemas.microsoft.com/office/drawing/2014/main" val="3616538731"/>
                  </a:ext>
                </a:extLst>
              </a:tr>
            </a:tbl>
          </a:graphicData>
        </a:graphic>
      </p:graphicFrame>
    </p:spTree>
    <p:extLst>
      <p:ext uri="{BB962C8B-B14F-4D97-AF65-F5344CB8AC3E}">
        <p14:creationId xmlns:p14="http://schemas.microsoft.com/office/powerpoint/2010/main" val="4041767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3363C-4F87-E82A-9C60-B0BAD54D09F5}"/>
              </a:ext>
            </a:extLst>
          </p:cNvPr>
          <p:cNvSpPr>
            <a:spLocks noGrp="1"/>
          </p:cNvSpPr>
          <p:nvPr>
            <p:ph type="title"/>
          </p:nvPr>
        </p:nvSpPr>
        <p:spPr/>
        <p:txBody>
          <a:bodyPr/>
          <a:lstStyle/>
          <a:p>
            <a:r>
              <a:rPr lang="en-IN" dirty="0"/>
              <a:t>   </a:t>
            </a:r>
          </a:p>
        </p:txBody>
      </p:sp>
      <p:graphicFrame>
        <p:nvGraphicFramePr>
          <p:cNvPr id="5" name="Content Placeholder 4">
            <a:extLst>
              <a:ext uri="{FF2B5EF4-FFF2-40B4-BE49-F238E27FC236}">
                <a16:creationId xmlns:a16="http://schemas.microsoft.com/office/drawing/2014/main" id="{A388DEB4-70B9-7FFD-C8DE-EB866B6180B8}"/>
              </a:ext>
            </a:extLst>
          </p:cNvPr>
          <p:cNvGraphicFramePr>
            <a:graphicFrameLocks noGrp="1"/>
          </p:cNvGraphicFramePr>
          <p:nvPr>
            <p:ph idx="1"/>
            <p:extLst>
              <p:ext uri="{D42A27DB-BD31-4B8C-83A1-F6EECF244321}">
                <p14:modId xmlns:p14="http://schemas.microsoft.com/office/powerpoint/2010/main" val="894336228"/>
              </p:ext>
            </p:extLst>
          </p:nvPr>
        </p:nvGraphicFramePr>
        <p:xfrm>
          <a:off x="838201" y="688259"/>
          <a:ext cx="10515600" cy="5496232"/>
        </p:xfrm>
        <a:graphic>
          <a:graphicData uri="http://schemas.openxmlformats.org/drawingml/2006/table">
            <a:tbl>
              <a:tblPr firstRow="1" bandRow="1">
                <a:tableStyleId>{5C22544A-7EE6-4342-B048-85BDC9FD1C3A}</a:tableStyleId>
              </a:tblPr>
              <a:tblGrid>
                <a:gridCol w="2494530">
                  <a:extLst>
                    <a:ext uri="{9D8B030D-6E8A-4147-A177-3AD203B41FA5}">
                      <a16:colId xmlns:a16="http://schemas.microsoft.com/office/drawing/2014/main" val="2871066921"/>
                    </a:ext>
                  </a:extLst>
                </a:gridCol>
                <a:gridCol w="2134958">
                  <a:extLst>
                    <a:ext uri="{9D8B030D-6E8A-4147-A177-3AD203B41FA5}">
                      <a16:colId xmlns:a16="http://schemas.microsoft.com/office/drawing/2014/main" val="3852849872"/>
                    </a:ext>
                  </a:extLst>
                </a:gridCol>
                <a:gridCol w="2022591">
                  <a:extLst>
                    <a:ext uri="{9D8B030D-6E8A-4147-A177-3AD203B41FA5}">
                      <a16:colId xmlns:a16="http://schemas.microsoft.com/office/drawing/2014/main" val="359466736"/>
                    </a:ext>
                  </a:extLst>
                </a:gridCol>
                <a:gridCol w="1449526">
                  <a:extLst>
                    <a:ext uri="{9D8B030D-6E8A-4147-A177-3AD203B41FA5}">
                      <a16:colId xmlns:a16="http://schemas.microsoft.com/office/drawing/2014/main" val="2231853009"/>
                    </a:ext>
                  </a:extLst>
                </a:gridCol>
                <a:gridCol w="2413995">
                  <a:extLst>
                    <a:ext uri="{9D8B030D-6E8A-4147-A177-3AD203B41FA5}">
                      <a16:colId xmlns:a16="http://schemas.microsoft.com/office/drawing/2014/main" val="687309268"/>
                    </a:ext>
                  </a:extLst>
                </a:gridCol>
              </a:tblGrid>
              <a:tr h="990687">
                <a:tc>
                  <a:txBody>
                    <a:bodyPr/>
                    <a:lstStyle/>
                    <a:p>
                      <a:endParaRPr lang="en-IN" dirty="0"/>
                    </a:p>
                    <a:p>
                      <a:r>
                        <a:rPr lang="en-IN" dirty="0"/>
                        <a:t>   Paper Title</a:t>
                      </a:r>
                    </a:p>
                  </a:txBody>
                  <a:tcPr/>
                </a:tc>
                <a:tc>
                  <a:txBody>
                    <a:bodyPr/>
                    <a:lstStyle/>
                    <a:p>
                      <a:endParaRPr lang="en-IN" dirty="0"/>
                    </a:p>
                    <a:p>
                      <a:r>
                        <a:rPr lang="en-IN" dirty="0"/>
                        <a:t>       Author</a:t>
                      </a:r>
                    </a:p>
                  </a:txBody>
                  <a:tcPr/>
                </a:tc>
                <a:tc>
                  <a:txBody>
                    <a:bodyPr/>
                    <a:lstStyle/>
                    <a:p>
                      <a:endParaRPr lang="en-IN" dirty="0"/>
                    </a:p>
                    <a:p>
                      <a:r>
                        <a:rPr lang="en-IN" dirty="0"/>
                        <a:t>  Journal Name</a:t>
                      </a:r>
                    </a:p>
                  </a:txBody>
                  <a:tcPr/>
                </a:tc>
                <a:tc>
                  <a:txBody>
                    <a:bodyPr/>
                    <a:lstStyle/>
                    <a:p>
                      <a:endParaRPr lang="en-IN" dirty="0"/>
                    </a:p>
                    <a:p>
                      <a:r>
                        <a:rPr lang="en-IN" dirty="0"/>
                        <a:t>        Year</a:t>
                      </a:r>
                    </a:p>
                  </a:txBody>
                  <a:tcPr/>
                </a:tc>
                <a:tc>
                  <a:txBody>
                    <a:bodyPr/>
                    <a:lstStyle/>
                    <a:p>
                      <a:endParaRPr lang="en-IN" dirty="0"/>
                    </a:p>
                    <a:p>
                      <a:r>
                        <a:rPr lang="en-IN" dirty="0"/>
                        <a:t>    Key Points</a:t>
                      </a:r>
                    </a:p>
                  </a:txBody>
                  <a:tcPr/>
                </a:tc>
                <a:extLst>
                  <a:ext uri="{0D108BD9-81ED-4DB2-BD59-A6C34878D82A}">
                    <a16:rowId xmlns:a16="http://schemas.microsoft.com/office/drawing/2014/main" val="350218319"/>
                  </a:ext>
                </a:extLst>
              </a:tr>
              <a:tr h="1471198">
                <a:tc>
                  <a:txBody>
                    <a:bodyPr/>
                    <a:lstStyle/>
                    <a:p>
                      <a:r>
                        <a:rPr lang="en-US" sz="1500" dirty="0"/>
                        <a:t>Early Diagnosis of Alzheimer’s Disease</a:t>
                      </a:r>
                    </a:p>
                    <a:p>
                      <a:r>
                        <a:rPr lang="en-US" sz="1500" dirty="0"/>
                        <a:t>Using 18F-FDG PET With Soften</a:t>
                      </a:r>
                    </a:p>
                    <a:p>
                      <a:r>
                        <a:rPr lang="en-US" sz="1500" dirty="0"/>
                        <a:t>Latent Representation</a:t>
                      </a:r>
                    </a:p>
                    <a:p>
                      <a:endParaRPr lang="en-IN" sz="1500" dirty="0"/>
                    </a:p>
                  </a:txBody>
                  <a:tcPr/>
                </a:tc>
                <a:tc>
                  <a:txBody>
                    <a:bodyPr/>
                    <a:lstStyle/>
                    <a:p>
                      <a:r>
                        <a:rPr lang="en-IN" sz="1500" dirty="0"/>
                        <a:t>ABDUL REHMAN,</a:t>
                      </a:r>
                    </a:p>
                    <a:p>
                      <a:r>
                        <a:rPr lang="en-IN" sz="1500" dirty="0"/>
                        <a:t>MYUNG-KYU Y</a:t>
                      </a:r>
                    </a:p>
                  </a:txBody>
                  <a:tcPr/>
                </a:tc>
                <a:tc>
                  <a:txBody>
                    <a:bodyPr/>
                    <a:lstStyle/>
                    <a:p>
                      <a:r>
                        <a:rPr lang="en-IN" sz="1500" dirty="0"/>
                        <a:t>IEEE </a:t>
                      </a:r>
                      <a:r>
                        <a:rPr lang="en-US" sz="1500" dirty="0"/>
                        <a:t>Journal of Medical Imaging and Health Informatics</a:t>
                      </a:r>
                      <a:endParaRPr lang="en-IN" sz="1500" dirty="0"/>
                    </a:p>
                  </a:txBody>
                  <a:tcPr/>
                </a:tc>
                <a:tc>
                  <a:txBody>
                    <a:bodyPr/>
                    <a:lstStyle/>
                    <a:p>
                      <a:endParaRPr lang="en-IN" sz="1500" dirty="0"/>
                    </a:p>
                    <a:p>
                      <a:r>
                        <a:rPr lang="en-IN" sz="1500" dirty="0"/>
                        <a:t>     2023</a:t>
                      </a:r>
                    </a:p>
                  </a:txBody>
                  <a:tcPr/>
                </a:tc>
                <a:tc>
                  <a:txBody>
                    <a:bodyPr/>
                    <a:lstStyle/>
                    <a:p>
                      <a:r>
                        <a:rPr lang="en-US" sz="1500" dirty="0"/>
                        <a:t>Helps in better feature extraction, reducing noise and enhancing model performance.</a:t>
                      </a:r>
                      <a:endParaRPr lang="en-IN" sz="1500" dirty="0"/>
                    </a:p>
                  </a:txBody>
                  <a:tcPr/>
                </a:tc>
                <a:extLst>
                  <a:ext uri="{0D108BD9-81ED-4DB2-BD59-A6C34878D82A}">
                    <a16:rowId xmlns:a16="http://schemas.microsoft.com/office/drawing/2014/main" val="303732971"/>
                  </a:ext>
                </a:extLst>
              </a:tr>
              <a:tr h="1011449">
                <a:tc>
                  <a:txBody>
                    <a:bodyPr/>
                    <a:lstStyle/>
                    <a:p>
                      <a:r>
                        <a:rPr lang="en-US" sz="1600" dirty="0"/>
                        <a:t>Clinical diagnosis of Alzheimer’s disease</a:t>
                      </a:r>
                      <a:endParaRPr lang="en-IN" sz="1600" dirty="0"/>
                    </a:p>
                  </a:txBody>
                  <a:tcPr/>
                </a:tc>
                <a:tc>
                  <a:txBody>
                    <a:bodyPr/>
                    <a:lstStyle/>
                    <a:p>
                      <a:r>
                        <a:rPr lang="en-IN" sz="1500" dirty="0"/>
                        <a:t>M. </a:t>
                      </a:r>
                      <a:r>
                        <a:rPr lang="en-IN" sz="1500" dirty="0" err="1"/>
                        <a:t>Folstein</a:t>
                      </a:r>
                      <a:endParaRPr lang="en-IN" sz="1500" dirty="0"/>
                    </a:p>
                  </a:txBody>
                  <a:tcPr/>
                </a:tc>
                <a:tc>
                  <a:txBody>
                    <a:bodyPr/>
                    <a:lstStyle/>
                    <a:p>
                      <a:r>
                        <a:rPr lang="en-US" sz="1500" dirty="0"/>
                        <a:t>IEEE Transactions on Cognitive and Developmental Systems</a:t>
                      </a:r>
                      <a:endParaRPr lang="en-IN" sz="1500" dirty="0"/>
                    </a:p>
                  </a:txBody>
                  <a:tcPr/>
                </a:tc>
                <a:tc>
                  <a:txBody>
                    <a:bodyPr/>
                    <a:lstStyle/>
                    <a:p>
                      <a:r>
                        <a:rPr lang="en-IN" sz="1500" dirty="0"/>
                        <a:t>     2022</a:t>
                      </a:r>
                    </a:p>
                  </a:txBody>
                  <a:tcPr/>
                </a:tc>
                <a:tc>
                  <a:txBody>
                    <a:bodyPr/>
                    <a:lstStyle/>
                    <a:p>
                      <a:r>
                        <a:rPr lang="en-US" sz="1500" dirty="0"/>
                        <a:t>Provides a consistent framework for diagnosing AD improving accuracy across clinics.</a:t>
                      </a:r>
                      <a:endParaRPr lang="en-IN" sz="1500" dirty="0"/>
                    </a:p>
                  </a:txBody>
                  <a:tcPr/>
                </a:tc>
                <a:extLst>
                  <a:ext uri="{0D108BD9-81ED-4DB2-BD59-A6C34878D82A}">
                    <a16:rowId xmlns:a16="http://schemas.microsoft.com/office/drawing/2014/main" val="109884106"/>
                  </a:ext>
                </a:extLst>
              </a:tr>
              <a:tr h="1011449">
                <a:tc>
                  <a:txBody>
                    <a:bodyPr/>
                    <a:lstStyle/>
                    <a:p>
                      <a:r>
                        <a:rPr lang="en-US" sz="1500" dirty="0"/>
                        <a:t>Generalizable deep learning model for early Alzheimer’s disease detection from structural MRIs</a:t>
                      </a:r>
                      <a:endParaRPr lang="en-IN" sz="1500" dirty="0"/>
                    </a:p>
                  </a:txBody>
                  <a:tcPr/>
                </a:tc>
                <a:tc>
                  <a:txBody>
                    <a:bodyPr/>
                    <a:lstStyle/>
                    <a:p>
                      <a:r>
                        <a:rPr lang="en-IN" sz="1600" dirty="0"/>
                        <a:t>V. </a:t>
                      </a:r>
                      <a:r>
                        <a:rPr lang="en-IN" sz="1600" dirty="0" err="1"/>
                        <a:t>Masurkar</a:t>
                      </a:r>
                      <a:endParaRPr lang="en-IN" sz="1600" dirty="0"/>
                    </a:p>
                  </a:txBody>
                  <a:tcPr/>
                </a:tc>
                <a:tc>
                  <a:txBody>
                    <a:bodyPr/>
                    <a:lstStyle/>
                    <a:p>
                      <a:r>
                        <a:rPr lang="en-US" sz="1500" dirty="0"/>
                        <a:t>IEEE Transactions on Neural Networks and Learning Systems</a:t>
                      </a:r>
                      <a:endParaRPr lang="en-IN" sz="1500" dirty="0"/>
                    </a:p>
                  </a:txBody>
                  <a:tcPr/>
                </a:tc>
                <a:tc>
                  <a:txBody>
                    <a:bodyPr/>
                    <a:lstStyle/>
                    <a:p>
                      <a:r>
                        <a:rPr lang="en-IN" sz="1500" dirty="0"/>
                        <a:t>     2022</a:t>
                      </a:r>
                    </a:p>
                  </a:txBody>
                  <a:tcPr/>
                </a:tc>
                <a:tc>
                  <a:txBody>
                    <a:bodyPr/>
                    <a:lstStyle/>
                    <a:p>
                      <a:r>
                        <a:rPr lang="en-US" sz="1500" dirty="0"/>
                        <a:t>The model aims to work across various populations and MRI settings, improving its practical applicability.</a:t>
                      </a:r>
                      <a:endParaRPr lang="en-IN" sz="1500" dirty="0"/>
                    </a:p>
                  </a:txBody>
                  <a:tcPr/>
                </a:tc>
                <a:extLst>
                  <a:ext uri="{0D108BD9-81ED-4DB2-BD59-A6C34878D82A}">
                    <a16:rowId xmlns:a16="http://schemas.microsoft.com/office/drawing/2014/main" val="2015850023"/>
                  </a:ext>
                </a:extLst>
              </a:tr>
              <a:tr h="1011449">
                <a:tc>
                  <a:txBody>
                    <a:bodyPr/>
                    <a:lstStyle/>
                    <a:p>
                      <a:r>
                        <a:rPr lang="en-US" sz="1500" dirty="0"/>
                        <a:t>Alzheimer’s disease detection from structural </a:t>
                      </a:r>
                      <a:r>
                        <a:rPr lang="en-US" sz="1500" dirty="0" err="1"/>
                        <a:t>mri</a:t>
                      </a:r>
                      <a:r>
                        <a:rPr lang="en-US" sz="1500" dirty="0"/>
                        <a:t> using fusion transformer.</a:t>
                      </a:r>
                      <a:endParaRPr lang="en-IN" sz="1500" dirty="0"/>
                    </a:p>
                  </a:txBody>
                  <a:tcPr/>
                </a:tc>
                <a:tc>
                  <a:txBody>
                    <a:bodyPr/>
                    <a:lstStyle/>
                    <a:p>
                      <a:r>
                        <a:rPr lang="en-IN" sz="1500" dirty="0"/>
                        <a:t>R. </a:t>
                      </a:r>
                      <a:r>
                        <a:rPr lang="en-IN" sz="1500" dirty="0" err="1"/>
                        <a:t>Kushol</a:t>
                      </a:r>
                      <a:endParaRPr lang="en-IN" sz="1500" dirty="0"/>
                    </a:p>
                  </a:txBody>
                  <a:tcPr/>
                </a:tc>
                <a:tc>
                  <a:txBody>
                    <a:bodyPr/>
                    <a:lstStyle/>
                    <a:p>
                      <a:r>
                        <a:rPr lang="en-US" sz="1500" dirty="0"/>
                        <a:t>IEEE Transactions on Medical Imaging</a:t>
                      </a:r>
                      <a:endParaRPr lang="en-IN" sz="1500" dirty="0"/>
                    </a:p>
                  </a:txBody>
                  <a:tcPr/>
                </a:tc>
                <a:tc>
                  <a:txBody>
                    <a:bodyPr/>
                    <a:lstStyle/>
                    <a:p>
                      <a:r>
                        <a:rPr lang="en-IN" sz="1500" dirty="0"/>
                        <a:t>     2021</a:t>
                      </a:r>
                    </a:p>
                  </a:txBody>
                  <a:tcPr/>
                </a:tc>
                <a:tc>
                  <a:txBody>
                    <a:bodyPr/>
                    <a:lstStyle/>
                    <a:p>
                      <a:r>
                        <a:rPr lang="en-US" sz="1500" dirty="0"/>
                        <a:t>Combines multiple brain regions and features for more accurate and holistic analysis.</a:t>
                      </a:r>
                      <a:endParaRPr lang="en-IN" sz="1500" dirty="0"/>
                    </a:p>
                  </a:txBody>
                  <a:tcPr/>
                </a:tc>
                <a:extLst>
                  <a:ext uri="{0D108BD9-81ED-4DB2-BD59-A6C34878D82A}">
                    <a16:rowId xmlns:a16="http://schemas.microsoft.com/office/drawing/2014/main" val="46328381"/>
                  </a:ext>
                </a:extLst>
              </a:tr>
            </a:tbl>
          </a:graphicData>
        </a:graphic>
      </p:graphicFrame>
    </p:spTree>
    <p:extLst>
      <p:ext uri="{BB962C8B-B14F-4D97-AF65-F5344CB8AC3E}">
        <p14:creationId xmlns:p14="http://schemas.microsoft.com/office/powerpoint/2010/main" val="3003691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3FE56-AC6E-626F-79C7-11B91920341C}"/>
              </a:ext>
            </a:extLst>
          </p:cNvPr>
          <p:cNvSpPr>
            <a:spLocks noGrp="1"/>
          </p:cNvSpPr>
          <p:nvPr>
            <p:ph type="title"/>
          </p:nvPr>
        </p:nvSpPr>
        <p:spPr/>
        <p:txBody>
          <a:bodyPr/>
          <a:lstStyle/>
          <a:p>
            <a:r>
              <a:rPr lang="en-US" b="1" dirty="0"/>
              <a:t>                        EXISTING SYSTEM</a:t>
            </a:r>
            <a:endParaRPr lang="en-IN" b="1" dirty="0"/>
          </a:p>
        </p:txBody>
      </p:sp>
      <p:sp>
        <p:nvSpPr>
          <p:cNvPr id="3" name="Content Placeholder 2">
            <a:extLst>
              <a:ext uri="{FF2B5EF4-FFF2-40B4-BE49-F238E27FC236}">
                <a16:creationId xmlns:a16="http://schemas.microsoft.com/office/drawing/2014/main" id="{190A2015-4B7C-486E-C66C-7448811C5947}"/>
              </a:ext>
            </a:extLst>
          </p:cNvPr>
          <p:cNvSpPr>
            <a:spLocks noGrp="1"/>
          </p:cNvSpPr>
          <p:nvPr>
            <p:ph idx="1"/>
          </p:nvPr>
        </p:nvSpPr>
        <p:spPr>
          <a:xfrm>
            <a:off x="838200" y="1551783"/>
            <a:ext cx="10515600" cy="4979961"/>
          </a:xfrm>
        </p:spPr>
        <p:txBody>
          <a:bodyPr>
            <a:normAutofit/>
          </a:bodyPr>
          <a:lstStyle/>
          <a:p>
            <a:pPr algn="just">
              <a:lnSpc>
                <a:spcPct val="100000"/>
              </a:lnSpc>
            </a:pPr>
            <a:r>
              <a:rPr lang="en-US" b="1" dirty="0"/>
              <a:t>Cognitive Impact</a:t>
            </a:r>
            <a:r>
              <a:rPr lang="en-US" dirty="0"/>
              <a:t>: Mild cognitive impairment, with slight challenges in planning, problem-solving, or organizing tasks.</a:t>
            </a:r>
          </a:p>
          <a:p>
            <a:pPr algn="just">
              <a:lnSpc>
                <a:spcPct val="100000"/>
              </a:lnSpc>
            </a:pPr>
            <a:r>
              <a:rPr lang="en-US" b="1" dirty="0"/>
              <a:t>Genetic Risk</a:t>
            </a:r>
            <a:r>
              <a:rPr lang="en-US" dirty="0"/>
              <a:t>: Presence of the APOE ε4 allele may increase susceptibility and accelerate progression in individuals with mild cognitive impairment.</a:t>
            </a:r>
          </a:p>
          <a:p>
            <a:pPr algn="just">
              <a:lnSpc>
                <a:spcPct val="100000"/>
              </a:lnSpc>
            </a:pPr>
            <a:r>
              <a:rPr lang="en-US" b="1" dirty="0"/>
              <a:t>Diagnosis</a:t>
            </a:r>
            <a:r>
              <a:rPr lang="en-US" dirty="0"/>
              <a:t>: Early detection is possible through cognitive tests, brain imaging, and biomarker analysis, though symptoms might be attributed to normal aging at first.</a:t>
            </a:r>
          </a:p>
          <a:p>
            <a:pPr algn="just">
              <a:lnSpc>
                <a:spcPct val="100000"/>
              </a:lnSpc>
            </a:pPr>
            <a:r>
              <a:rPr lang="en-US" b="1" dirty="0"/>
              <a:t>Cognitive Engagement</a:t>
            </a:r>
            <a:r>
              <a:rPr lang="en-US" dirty="0"/>
              <a:t>: Engaging in activities like puzzles, reading, and learning new skills to maintain brain health.</a:t>
            </a:r>
            <a:endParaRPr lang="en-IN" dirty="0"/>
          </a:p>
        </p:txBody>
      </p:sp>
    </p:spTree>
    <p:extLst>
      <p:ext uri="{BB962C8B-B14F-4D97-AF65-F5344CB8AC3E}">
        <p14:creationId xmlns:p14="http://schemas.microsoft.com/office/powerpoint/2010/main" val="594833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5F3DA-0A9F-C3DD-C3EF-B2FD45DBF47E}"/>
              </a:ext>
            </a:extLst>
          </p:cNvPr>
          <p:cNvSpPr>
            <a:spLocks noGrp="1"/>
          </p:cNvSpPr>
          <p:nvPr>
            <p:ph type="title"/>
          </p:nvPr>
        </p:nvSpPr>
        <p:spPr/>
        <p:txBody>
          <a:bodyPr/>
          <a:lstStyle/>
          <a:p>
            <a:r>
              <a:rPr lang="en-US" b="1" dirty="0"/>
              <a:t>                     PROPOSED SYSTEM</a:t>
            </a:r>
            <a:endParaRPr lang="en-IN" b="1" dirty="0"/>
          </a:p>
        </p:txBody>
      </p:sp>
      <p:sp>
        <p:nvSpPr>
          <p:cNvPr id="3" name="Content Placeholder 2">
            <a:extLst>
              <a:ext uri="{FF2B5EF4-FFF2-40B4-BE49-F238E27FC236}">
                <a16:creationId xmlns:a16="http://schemas.microsoft.com/office/drawing/2014/main" id="{2B89E0DE-7843-CD47-115B-BD076540FA17}"/>
              </a:ext>
            </a:extLst>
          </p:cNvPr>
          <p:cNvSpPr>
            <a:spLocks noGrp="1"/>
          </p:cNvSpPr>
          <p:nvPr>
            <p:ph idx="1"/>
          </p:nvPr>
        </p:nvSpPr>
        <p:spPr>
          <a:xfrm>
            <a:off x="838200" y="1690688"/>
            <a:ext cx="10515600" cy="4884664"/>
          </a:xfrm>
        </p:spPr>
        <p:txBody>
          <a:bodyPr>
            <a:normAutofit/>
          </a:bodyPr>
          <a:lstStyle/>
          <a:p>
            <a:pPr algn="just">
              <a:lnSpc>
                <a:spcPct val="100000"/>
              </a:lnSpc>
            </a:pPr>
            <a:r>
              <a:rPr lang="en-US" b="1" dirty="0"/>
              <a:t>Cognitive Decline Prediction</a:t>
            </a:r>
            <a:r>
              <a:rPr lang="en-US" dirty="0"/>
              <a:t>: Algorithms that forecast cognitive decline rates from cognitive test results.</a:t>
            </a:r>
          </a:p>
          <a:p>
            <a:pPr algn="just">
              <a:lnSpc>
                <a:spcPct val="100000"/>
              </a:lnSpc>
            </a:pPr>
            <a:r>
              <a:rPr lang="en-US" b="1" dirty="0"/>
              <a:t>Deep Learning Models</a:t>
            </a:r>
            <a:r>
              <a:rPr lang="en-US" dirty="0"/>
              <a:t>: Advanced neural networks improve accuracy in predicting Alzheimer's from large datasets.</a:t>
            </a:r>
          </a:p>
          <a:p>
            <a:pPr algn="just">
              <a:lnSpc>
                <a:spcPct val="100000"/>
              </a:lnSpc>
            </a:pPr>
            <a:r>
              <a:rPr lang="en-IN" b="1" dirty="0"/>
              <a:t>Multi-Modal Data Integration</a:t>
            </a:r>
            <a:r>
              <a:rPr lang="en-IN" dirty="0"/>
              <a:t>: Combining MRI, PET scans, genetic data, and clinical tests for comprehensive analysis.</a:t>
            </a:r>
            <a:endParaRPr lang="en-US" dirty="0"/>
          </a:p>
          <a:p>
            <a:pPr algn="just">
              <a:lnSpc>
                <a:spcPct val="100000"/>
              </a:lnSpc>
            </a:pPr>
            <a:r>
              <a:rPr lang="en-US" b="1" dirty="0"/>
              <a:t>Blood Biomarker Analysis</a:t>
            </a:r>
            <a:r>
              <a:rPr lang="en-US" dirty="0"/>
              <a:t>: Predicting Alzheimer's using blood tests for proteins like amyloid-beta and tau.</a:t>
            </a:r>
          </a:p>
          <a:p>
            <a:pPr>
              <a:lnSpc>
                <a:spcPct val="100000"/>
              </a:lnSpc>
            </a:pPr>
            <a:endParaRPr lang="en-IN" dirty="0"/>
          </a:p>
        </p:txBody>
      </p:sp>
    </p:spTree>
    <p:extLst>
      <p:ext uri="{BB962C8B-B14F-4D97-AF65-F5344CB8AC3E}">
        <p14:creationId xmlns:p14="http://schemas.microsoft.com/office/powerpoint/2010/main" val="592221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E70AD-4AFE-49A9-3029-3D6EFD0FB6C8}"/>
              </a:ext>
            </a:extLst>
          </p:cNvPr>
          <p:cNvSpPr>
            <a:spLocks noGrp="1"/>
          </p:cNvSpPr>
          <p:nvPr>
            <p:ph type="title"/>
          </p:nvPr>
        </p:nvSpPr>
        <p:spPr/>
        <p:txBody>
          <a:bodyPr/>
          <a:lstStyle/>
          <a:p>
            <a:r>
              <a:rPr lang="en-IN" b="1" dirty="0"/>
              <a:t>		   FUNCTIONAL DIAGRAM</a:t>
            </a:r>
          </a:p>
        </p:txBody>
      </p:sp>
      <p:pic>
        <p:nvPicPr>
          <p:cNvPr id="5" name="Content Placeholder 4">
            <a:extLst>
              <a:ext uri="{FF2B5EF4-FFF2-40B4-BE49-F238E27FC236}">
                <a16:creationId xmlns:a16="http://schemas.microsoft.com/office/drawing/2014/main" id="{C131CD58-F35E-FBC7-863E-14A6747852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0439" y="1936955"/>
            <a:ext cx="11041626" cy="3972231"/>
          </a:xfrm>
        </p:spPr>
      </p:pic>
    </p:spTree>
    <p:extLst>
      <p:ext uri="{BB962C8B-B14F-4D97-AF65-F5344CB8AC3E}">
        <p14:creationId xmlns:p14="http://schemas.microsoft.com/office/powerpoint/2010/main" val="234394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8A2A5-6420-3031-9C07-34EAF5208791}"/>
              </a:ext>
            </a:extLst>
          </p:cNvPr>
          <p:cNvSpPr>
            <a:spLocks noGrp="1"/>
          </p:cNvSpPr>
          <p:nvPr>
            <p:ph type="title"/>
          </p:nvPr>
        </p:nvSpPr>
        <p:spPr/>
        <p:txBody>
          <a:bodyPr/>
          <a:lstStyle/>
          <a:p>
            <a:r>
              <a:rPr lang="en-US" b="1" dirty="0"/>
              <a:t>			MODULES DESCRIPTION</a:t>
            </a:r>
            <a:endParaRPr lang="en-IN" b="1" dirty="0"/>
          </a:p>
        </p:txBody>
      </p:sp>
      <p:sp>
        <p:nvSpPr>
          <p:cNvPr id="3" name="Content Placeholder 2">
            <a:extLst>
              <a:ext uri="{FF2B5EF4-FFF2-40B4-BE49-F238E27FC236}">
                <a16:creationId xmlns:a16="http://schemas.microsoft.com/office/drawing/2014/main" id="{BB936979-5CA4-43FF-02A4-34F1CF9ADD98}"/>
              </a:ext>
            </a:extLst>
          </p:cNvPr>
          <p:cNvSpPr>
            <a:spLocks noGrp="1"/>
          </p:cNvSpPr>
          <p:nvPr>
            <p:ph idx="1"/>
          </p:nvPr>
        </p:nvSpPr>
        <p:spPr>
          <a:xfrm>
            <a:off x="838200" y="1586776"/>
            <a:ext cx="10515600" cy="4814326"/>
          </a:xfrm>
        </p:spPr>
        <p:txBody>
          <a:bodyPr>
            <a:normAutofit fontScale="40000" lnSpcReduction="20000"/>
          </a:bodyPr>
          <a:lstStyle/>
          <a:p>
            <a:pPr marL="0" indent="0" algn="just">
              <a:lnSpc>
                <a:spcPct val="120000"/>
              </a:lnSpc>
              <a:buNone/>
            </a:pPr>
            <a:r>
              <a:rPr lang="en-US" sz="5300" b="1" dirty="0"/>
              <a:t>Early Detection and Diagnosis</a:t>
            </a:r>
          </a:p>
          <a:p>
            <a:pPr marL="0" indent="0" algn="just">
              <a:lnSpc>
                <a:spcPct val="120000"/>
              </a:lnSpc>
              <a:buNone/>
            </a:pPr>
            <a:r>
              <a:rPr lang="en-US" sz="5300" dirty="0"/>
              <a:t>        Alzheimer's can be detected in early stages through cognitive assessments, brain imaging, and biomarker analysis. Early diagnosis allows for timely intervention to slow the </a:t>
            </a:r>
            <a:r>
              <a:rPr lang="en-US" sz="5400" dirty="0"/>
              <a:t>syndrome</a:t>
            </a:r>
            <a:r>
              <a:rPr lang="en-US" sz="5300" dirty="0"/>
              <a:t>'s progression.</a:t>
            </a:r>
          </a:p>
          <a:p>
            <a:pPr marL="0" indent="0" algn="just">
              <a:lnSpc>
                <a:spcPct val="120000"/>
              </a:lnSpc>
              <a:buNone/>
            </a:pPr>
            <a:r>
              <a:rPr lang="en-US" sz="5300" b="1" dirty="0"/>
              <a:t>Cognitive and Behavioral Symptoms</a:t>
            </a:r>
          </a:p>
          <a:p>
            <a:pPr marL="0" indent="0" algn="just">
              <a:lnSpc>
                <a:spcPct val="120000"/>
              </a:lnSpc>
              <a:buNone/>
            </a:pPr>
            <a:r>
              <a:rPr lang="en-US" sz="5300" dirty="0"/>
              <a:t>       Alzheimer's symptoms begin with mild memory loss and difficulty in finding words. As the disease progresses, patients experience confusion, personality changes, and difficulty with daily tasks.</a:t>
            </a:r>
          </a:p>
          <a:p>
            <a:pPr marL="0" indent="0" algn="just">
              <a:lnSpc>
                <a:spcPct val="120000"/>
              </a:lnSpc>
              <a:buNone/>
            </a:pPr>
            <a:r>
              <a:rPr lang="en-US" sz="5300" b="1" dirty="0"/>
              <a:t>Technological Advancements in Prediction</a:t>
            </a:r>
          </a:p>
          <a:p>
            <a:pPr marL="0" indent="0" algn="just">
              <a:lnSpc>
                <a:spcPct val="120000"/>
              </a:lnSpc>
              <a:buNone/>
            </a:pPr>
            <a:r>
              <a:rPr lang="en-US" sz="5300" dirty="0"/>
              <a:t>      Deep learning models and AI are being used to predict Alzheimer's based on multimodal data like brain scans, genetic tests, and biomarkers. Early prediction aids in proactive disease management and tailored treatment plans.</a:t>
            </a:r>
          </a:p>
          <a:p>
            <a:pPr marL="0" indent="0">
              <a:lnSpc>
                <a:spcPct val="120000"/>
              </a:lnSpc>
              <a:buNone/>
            </a:pPr>
            <a:endParaRPr lang="en-US" sz="5300" dirty="0"/>
          </a:p>
          <a:p>
            <a:pPr marL="0" indent="0">
              <a:lnSpc>
                <a:spcPct val="120000"/>
              </a:lnSpc>
              <a:buNone/>
            </a:pPr>
            <a:endParaRPr lang="en-US" dirty="0"/>
          </a:p>
          <a:p>
            <a:pPr>
              <a:lnSpc>
                <a:spcPct val="120000"/>
              </a:lnSpc>
            </a:pPr>
            <a:endParaRPr lang="en-IN" dirty="0"/>
          </a:p>
        </p:txBody>
      </p:sp>
    </p:spTree>
    <p:extLst>
      <p:ext uri="{BB962C8B-B14F-4D97-AF65-F5344CB8AC3E}">
        <p14:creationId xmlns:p14="http://schemas.microsoft.com/office/powerpoint/2010/main" val="984465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0711B-E039-5450-7AE3-20B44D906A97}"/>
              </a:ext>
            </a:extLst>
          </p:cNvPr>
          <p:cNvSpPr>
            <a:spLocks noGrp="1"/>
          </p:cNvSpPr>
          <p:nvPr>
            <p:ph type="title"/>
          </p:nvPr>
        </p:nvSpPr>
        <p:spPr/>
        <p:txBody>
          <a:bodyPr>
            <a:normAutofit/>
          </a:bodyPr>
          <a:lstStyle/>
          <a:p>
            <a:r>
              <a:rPr lang="en-IN" b="1" i="0" u="none" strike="noStrike" baseline="0" dirty="0"/>
              <a:t>				Final Outputs</a:t>
            </a:r>
            <a:endParaRPr lang="en-IN" b="1" dirty="0"/>
          </a:p>
        </p:txBody>
      </p:sp>
      <p:pic>
        <p:nvPicPr>
          <p:cNvPr id="5" name="Content Placeholder 4">
            <a:extLst>
              <a:ext uri="{FF2B5EF4-FFF2-40B4-BE49-F238E27FC236}">
                <a16:creationId xmlns:a16="http://schemas.microsoft.com/office/drawing/2014/main" id="{1CC6F735-0D86-E92B-2890-624B18FC90D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160206" y="1455174"/>
            <a:ext cx="9871587" cy="5161936"/>
          </a:xfrm>
        </p:spPr>
      </p:pic>
    </p:spTree>
    <p:extLst>
      <p:ext uri="{BB962C8B-B14F-4D97-AF65-F5344CB8AC3E}">
        <p14:creationId xmlns:p14="http://schemas.microsoft.com/office/powerpoint/2010/main" val="2596712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0B0C71-2E22-D2A8-D025-7FBCA71EE0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596" y="555523"/>
            <a:ext cx="10216807" cy="5746954"/>
          </a:xfrm>
          <a:prstGeom prst="rect">
            <a:avLst/>
          </a:prstGeom>
        </p:spPr>
      </p:pic>
    </p:spTree>
    <p:extLst>
      <p:ext uri="{BB962C8B-B14F-4D97-AF65-F5344CB8AC3E}">
        <p14:creationId xmlns:p14="http://schemas.microsoft.com/office/powerpoint/2010/main" val="344907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F725E1-8BCE-470E-1EF9-FA772F2715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471" y="577952"/>
            <a:ext cx="10137058" cy="5702095"/>
          </a:xfrm>
          <a:prstGeom prst="rect">
            <a:avLst/>
          </a:prstGeom>
        </p:spPr>
      </p:pic>
    </p:spTree>
    <p:extLst>
      <p:ext uri="{BB962C8B-B14F-4D97-AF65-F5344CB8AC3E}">
        <p14:creationId xmlns:p14="http://schemas.microsoft.com/office/powerpoint/2010/main" val="2204030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C81B6-9C98-7848-2C84-03162E3B0CEF}"/>
              </a:ext>
            </a:extLst>
          </p:cNvPr>
          <p:cNvSpPr>
            <a:spLocks noGrp="1"/>
          </p:cNvSpPr>
          <p:nvPr>
            <p:ph type="title"/>
          </p:nvPr>
        </p:nvSpPr>
        <p:spPr/>
        <p:txBody>
          <a:bodyPr/>
          <a:lstStyle/>
          <a:p>
            <a:r>
              <a:rPr lang="en-US" b="1" dirty="0"/>
              <a:t>				CONCLUSION</a:t>
            </a:r>
            <a:endParaRPr lang="en-IN" b="1" dirty="0"/>
          </a:p>
        </p:txBody>
      </p:sp>
      <p:sp>
        <p:nvSpPr>
          <p:cNvPr id="3" name="Content Placeholder 2">
            <a:extLst>
              <a:ext uri="{FF2B5EF4-FFF2-40B4-BE49-F238E27FC236}">
                <a16:creationId xmlns:a16="http://schemas.microsoft.com/office/drawing/2014/main" id="{54971EF7-3CF8-A03D-8222-245206708271}"/>
              </a:ext>
            </a:extLst>
          </p:cNvPr>
          <p:cNvSpPr>
            <a:spLocks noGrp="1"/>
          </p:cNvSpPr>
          <p:nvPr>
            <p:ph idx="1"/>
          </p:nvPr>
        </p:nvSpPr>
        <p:spPr/>
        <p:txBody>
          <a:bodyPr>
            <a:normAutofit/>
          </a:bodyPr>
          <a:lstStyle/>
          <a:p>
            <a:pPr marL="0" indent="0" algn="just">
              <a:lnSpc>
                <a:spcPct val="100000"/>
              </a:lnSpc>
              <a:buNone/>
            </a:pPr>
            <a:r>
              <a:rPr lang="en-US" dirty="0"/>
              <a:t>		Alzheimer's </a:t>
            </a:r>
            <a:r>
              <a:rPr lang="en-US" sz="2800" dirty="0"/>
              <a:t>Syndrome</a:t>
            </a:r>
            <a:r>
              <a:rPr lang="en-US" dirty="0"/>
              <a:t> progresses from mild cognitive impairment to severe memory loss and dependency over three stages. Early diagnosis and intervention in the mild stage can help slow its progression. As the disease advances, comprehensive care and support become crucial for managing symptoms and ensuring patient well-being.</a:t>
            </a:r>
          </a:p>
          <a:p>
            <a:pPr marL="0" indent="0" algn="just">
              <a:buNone/>
            </a:pPr>
            <a:r>
              <a:rPr lang="en-US" dirty="0"/>
              <a:t>		H</a:t>
            </a:r>
            <a:r>
              <a:rPr lang="en-US" b="0" i="0" u="none" strike="noStrike" baseline="0" dirty="0"/>
              <a:t>ighly effective model in this study that utilizes the self-attention mechanism to classify MRI data </a:t>
            </a:r>
            <a:r>
              <a:rPr lang="en-IN" b="0" i="0" u="none" strike="noStrike" baseline="0" dirty="0"/>
              <a:t>associated with Alzheimer’s disease.</a:t>
            </a:r>
            <a:r>
              <a:rPr lang="en-US" b="0" i="0" u="none" strike="noStrike" baseline="0" dirty="0"/>
              <a:t> Segmentation of brain MRI</a:t>
            </a:r>
            <a:r>
              <a:rPr lang="en-US" dirty="0"/>
              <a:t> </a:t>
            </a:r>
            <a:r>
              <a:rPr lang="en-US" b="0" i="0" u="none" strike="noStrike" baseline="0" dirty="0"/>
              <a:t>scans helps in their interpretation and categorization for diseases like Alzheimer’s.</a:t>
            </a:r>
            <a:endParaRPr lang="en-IN" dirty="0"/>
          </a:p>
        </p:txBody>
      </p:sp>
    </p:spTree>
    <p:extLst>
      <p:ext uri="{BB962C8B-B14F-4D97-AF65-F5344CB8AC3E}">
        <p14:creationId xmlns:p14="http://schemas.microsoft.com/office/powerpoint/2010/main" val="1825142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3D196-6F00-D6FF-899A-FA717F3454B2}"/>
              </a:ext>
            </a:extLst>
          </p:cNvPr>
          <p:cNvSpPr>
            <a:spLocks noGrp="1"/>
          </p:cNvSpPr>
          <p:nvPr>
            <p:ph type="title"/>
          </p:nvPr>
        </p:nvSpPr>
        <p:spPr/>
        <p:txBody>
          <a:bodyPr/>
          <a:lstStyle/>
          <a:p>
            <a:r>
              <a:rPr lang="en-IN" b="1" dirty="0"/>
              <a:t>				REFERENCES</a:t>
            </a:r>
          </a:p>
        </p:txBody>
      </p:sp>
      <p:sp>
        <p:nvSpPr>
          <p:cNvPr id="3" name="Content Placeholder 2">
            <a:extLst>
              <a:ext uri="{FF2B5EF4-FFF2-40B4-BE49-F238E27FC236}">
                <a16:creationId xmlns:a16="http://schemas.microsoft.com/office/drawing/2014/main" id="{60B65536-0DE1-E451-68E6-81881EA37AAD}"/>
              </a:ext>
            </a:extLst>
          </p:cNvPr>
          <p:cNvSpPr>
            <a:spLocks noGrp="1"/>
          </p:cNvSpPr>
          <p:nvPr>
            <p:ph idx="1"/>
          </p:nvPr>
        </p:nvSpPr>
        <p:spPr>
          <a:xfrm>
            <a:off x="838200" y="1825625"/>
            <a:ext cx="10515600" cy="4786190"/>
          </a:xfrm>
        </p:spPr>
        <p:txBody>
          <a:bodyPr/>
          <a:lstStyle/>
          <a:p>
            <a:pPr algn="just">
              <a:lnSpc>
                <a:spcPct val="100000"/>
              </a:lnSpc>
            </a:pPr>
            <a:r>
              <a:rPr lang="en-US" sz="1800" b="0" i="0" u="none" strike="noStrike" baseline="0" dirty="0"/>
              <a:t>Z. Huang, X. Zhu, M. Ding, and X. Zhang, ‘‘Medical image classification using a light-weighted hybrid neural network based on </a:t>
            </a:r>
            <a:r>
              <a:rPr lang="en-US" sz="1800" b="0" i="0" u="none" strike="noStrike" baseline="0" dirty="0" err="1"/>
              <a:t>PCANet</a:t>
            </a:r>
            <a:r>
              <a:rPr lang="en-US" sz="1800" b="0" i="0" u="none" strike="noStrike" baseline="0" dirty="0"/>
              <a:t> and </a:t>
            </a:r>
            <a:r>
              <a:rPr lang="nl-NL" sz="1800" b="0" i="0" u="none" strike="noStrike" baseline="0" dirty="0"/>
              <a:t>DenseNet,’’ </a:t>
            </a:r>
            <a:r>
              <a:rPr lang="nl-NL" sz="1800" b="0" i="1" u="none" strike="noStrike" baseline="0" dirty="0"/>
              <a:t>IEEE Access</a:t>
            </a:r>
            <a:r>
              <a:rPr lang="nl-NL" sz="1800" b="0" i="0" u="none" strike="noStrike" baseline="0" dirty="0"/>
              <a:t>, vol. 8, pp. 24697–24712, 2020.</a:t>
            </a:r>
          </a:p>
          <a:p>
            <a:pPr algn="just">
              <a:lnSpc>
                <a:spcPct val="100000"/>
              </a:lnSpc>
            </a:pPr>
            <a:r>
              <a:rPr lang="en-IN" sz="1800" b="0" i="0" u="none" strike="noStrike" baseline="0" dirty="0"/>
              <a:t>R. K. Mishra, S. </a:t>
            </a:r>
            <a:r>
              <a:rPr lang="en-IN" sz="1800" b="0" i="0" u="none" strike="noStrike" baseline="0" dirty="0" err="1"/>
              <a:t>Urolagin</a:t>
            </a:r>
            <a:r>
              <a:rPr lang="en-IN" sz="1800" b="0" i="0" u="none" strike="noStrike" baseline="0" dirty="0"/>
              <a:t>, J. A. A. Jothi, A. S. </a:t>
            </a:r>
            <a:r>
              <a:rPr lang="en-IN" sz="1800" b="0" i="0" u="none" strike="noStrike" baseline="0" dirty="0" err="1"/>
              <a:t>Neogi</a:t>
            </a:r>
            <a:r>
              <a:rPr lang="en-IN" sz="1800" b="0" i="0" u="none" strike="noStrike" baseline="0" dirty="0"/>
              <a:t>, and N. Nawaz, </a:t>
            </a:r>
            <a:r>
              <a:rPr lang="en-US" sz="1800" b="0" i="0" u="none" strike="noStrike" baseline="0" dirty="0"/>
              <a:t>‘‘Deep learning-based sentiment analysis and topic modeling on tourism during COVID-19 pandemic,’’ </a:t>
            </a:r>
            <a:r>
              <a:rPr lang="en-US" sz="1800" b="0" i="1" u="none" strike="noStrike" baseline="0" dirty="0"/>
              <a:t>Frontiers </a:t>
            </a:r>
            <a:r>
              <a:rPr lang="en-US" sz="1800" b="0" i="1" u="none" strike="noStrike" baseline="0" dirty="0" err="1"/>
              <a:t>Comput</a:t>
            </a:r>
            <a:r>
              <a:rPr lang="en-US" sz="1800" b="0" i="1" u="none" strike="noStrike" baseline="0" dirty="0"/>
              <a:t>. Sci.</a:t>
            </a:r>
            <a:r>
              <a:rPr lang="en-US" sz="1800" b="0" i="0" u="none" strike="noStrike" baseline="0" dirty="0"/>
              <a:t>, vol. 3, pp. 1–10, </a:t>
            </a:r>
            <a:r>
              <a:rPr lang="en-IN" sz="1800" b="0" i="0" u="none" strike="noStrike" baseline="0" dirty="0"/>
              <a:t>Nov. 2021.</a:t>
            </a:r>
          </a:p>
          <a:p>
            <a:pPr algn="just">
              <a:lnSpc>
                <a:spcPct val="100000"/>
              </a:lnSpc>
            </a:pPr>
            <a:r>
              <a:rPr lang="it-IT" sz="1800" b="0" i="0" u="none" strike="noStrike" baseline="0" dirty="0"/>
              <a:t>Z. Pei, Y. Gou, M. Ma, M. Guo, C. Leng, Y. Chen, and J. Li, ‘‘Alzheimer’s </a:t>
            </a:r>
            <a:r>
              <a:rPr lang="en-US" sz="1800" b="0" i="0" u="none" strike="noStrike" baseline="0" dirty="0"/>
              <a:t>disease diagnosis based on long-range dependency mechanism using convolutional neural network,’’ </a:t>
            </a:r>
            <a:r>
              <a:rPr lang="en-US" sz="1800" b="0" i="1" u="none" strike="noStrike" baseline="0" dirty="0"/>
              <a:t>Multimedia Tools Appl.</a:t>
            </a:r>
            <a:r>
              <a:rPr lang="en-US" sz="1800" b="0" i="0" u="none" strike="noStrike" baseline="0" dirty="0"/>
              <a:t>, vol. 81, no. 25, </a:t>
            </a:r>
            <a:r>
              <a:rPr lang="en-IN" sz="1800" b="0" i="0" u="none" strike="noStrike" baseline="0" dirty="0"/>
              <a:t>pp. 36053–36068, Oct. 2022.</a:t>
            </a:r>
          </a:p>
          <a:p>
            <a:pPr algn="just">
              <a:lnSpc>
                <a:spcPct val="100000"/>
              </a:lnSpc>
            </a:pPr>
            <a:r>
              <a:rPr lang="en-US" sz="1800" b="0" i="0" u="none" strike="noStrike" baseline="0" dirty="0"/>
              <a:t>R. Gautam and M. Sharma, ‘‘Prevalence and diagnosis of neurological disorders using different deep learning techniques: A meta-analysis,’’ </a:t>
            </a:r>
            <a:r>
              <a:rPr lang="nn-NO" sz="1800" b="0" i="1" u="none" strike="noStrike" baseline="0" dirty="0"/>
              <a:t>J. Med. Syst.</a:t>
            </a:r>
            <a:r>
              <a:rPr lang="nn-NO" sz="1800" b="0" i="0" u="none" strike="noStrike" baseline="0" dirty="0"/>
              <a:t>, vol. 44, no. 2, pp. 1–24, Feb. 2020.</a:t>
            </a:r>
          </a:p>
          <a:p>
            <a:pPr algn="just">
              <a:lnSpc>
                <a:spcPct val="100000"/>
              </a:lnSpc>
            </a:pPr>
            <a:r>
              <a:rPr lang="en-IN" sz="1800" b="0" i="0" u="none" strike="noStrike" baseline="0" dirty="0"/>
              <a:t>M. Aparna and B. Srinivasa Rao, ‘‘</a:t>
            </a:r>
            <a:r>
              <a:rPr lang="en-IN" sz="1800" b="0" i="0" u="none" strike="noStrike" baseline="0" dirty="0" err="1"/>
              <a:t>Xception-FractalNet</a:t>
            </a:r>
            <a:r>
              <a:rPr lang="en-IN" sz="1800" b="0" i="0" u="none" strike="noStrike" baseline="0" dirty="0"/>
              <a:t>: Hybrid deep </a:t>
            </a:r>
            <a:r>
              <a:rPr lang="en-US" sz="1800" b="0" i="0" u="none" strike="noStrike" baseline="0" dirty="0"/>
              <a:t>learning based multi-class classification of Alzheimer’s disease,’’ </a:t>
            </a:r>
            <a:r>
              <a:rPr lang="en-US" sz="1800" b="0" i="1" u="none" strike="noStrike" baseline="0" dirty="0" err="1"/>
              <a:t>Comput</a:t>
            </a:r>
            <a:r>
              <a:rPr lang="en-US" sz="1800" b="0" i="1" u="none" strike="noStrike" baseline="0" dirty="0"/>
              <a:t>., </a:t>
            </a:r>
            <a:r>
              <a:rPr lang="en-IN" sz="1800" b="0" i="1" u="none" strike="noStrike" baseline="0" dirty="0"/>
              <a:t>Mater. Continua</a:t>
            </a:r>
            <a:r>
              <a:rPr lang="en-IN" sz="1800" b="0" i="0" u="none" strike="noStrike" baseline="0" dirty="0"/>
              <a:t>, vol. 74, no. 3, pp. 6909–6932, 2023.</a:t>
            </a:r>
          </a:p>
          <a:p>
            <a:pPr algn="just">
              <a:lnSpc>
                <a:spcPct val="100000"/>
              </a:lnSpc>
            </a:pPr>
            <a:r>
              <a:rPr lang="en-IN" sz="1800" dirty="0"/>
              <a:t>S. M. Anwar, M. Majid, A. Qayyum, M. </a:t>
            </a:r>
            <a:r>
              <a:rPr lang="en-IN" sz="1800" dirty="0" err="1"/>
              <a:t>Awais</a:t>
            </a:r>
            <a:r>
              <a:rPr lang="en-IN" sz="1800" dirty="0"/>
              <a:t>, M. </a:t>
            </a:r>
            <a:r>
              <a:rPr lang="en-IN" sz="1800" dirty="0" err="1"/>
              <a:t>Alnowami</a:t>
            </a:r>
            <a:r>
              <a:rPr lang="en-IN" sz="1800" dirty="0"/>
              <a:t>, and M. K. Khan, ‘‘Medical image analysis using convolutional neural networks: A review,’’ J. Med. Syst., </a:t>
            </a:r>
            <a:r>
              <a:rPr lang="en-US" sz="1800" dirty="0"/>
              <a:t>vol. 42, no. 11, p. 226, Oct. 2018.</a:t>
            </a:r>
            <a:endParaRPr lang="en-IN" sz="1800" b="0" i="0" u="none" strike="noStrike" baseline="0" dirty="0"/>
          </a:p>
          <a:p>
            <a:pPr algn="just">
              <a:lnSpc>
                <a:spcPct val="100000"/>
              </a:lnSpc>
            </a:pPr>
            <a:endParaRPr lang="en-IN" sz="1800" b="0" i="0" u="none" strike="noStrike" baseline="0" dirty="0">
              <a:latin typeface="TimesLTStd-Roman"/>
            </a:endParaRPr>
          </a:p>
          <a:p>
            <a:pPr algn="just">
              <a:lnSpc>
                <a:spcPct val="100000"/>
              </a:lnSpc>
            </a:pPr>
            <a:endParaRPr lang="en-IN" dirty="0"/>
          </a:p>
        </p:txBody>
      </p:sp>
    </p:spTree>
    <p:extLst>
      <p:ext uri="{BB962C8B-B14F-4D97-AF65-F5344CB8AC3E}">
        <p14:creationId xmlns:p14="http://schemas.microsoft.com/office/powerpoint/2010/main" val="887992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8A59F7-FE80-E032-DE7F-EF775F8C57C0}"/>
              </a:ext>
            </a:extLst>
          </p:cNvPr>
          <p:cNvSpPr>
            <a:spLocks noGrp="1"/>
          </p:cNvSpPr>
          <p:nvPr>
            <p:ph idx="1"/>
          </p:nvPr>
        </p:nvSpPr>
        <p:spPr>
          <a:xfrm>
            <a:off x="838200" y="492369"/>
            <a:ext cx="10515600" cy="5176911"/>
          </a:xfrm>
        </p:spPr>
        <p:txBody>
          <a:bodyPr>
            <a:noAutofit/>
          </a:bodyPr>
          <a:lstStyle/>
          <a:p>
            <a:pPr algn="just">
              <a:lnSpc>
                <a:spcPct val="100000"/>
              </a:lnSpc>
            </a:pPr>
            <a:r>
              <a:rPr lang="en-IN" sz="1800" dirty="0"/>
              <a:t>R. Azad, A. </a:t>
            </a:r>
            <a:r>
              <a:rPr lang="en-IN" sz="1800" dirty="0" err="1"/>
              <a:t>Kazerouni</a:t>
            </a:r>
            <a:r>
              <a:rPr lang="en-IN" sz="1800" dirty="0"/>
              <a:t>, M. </a:t>
            </a:r>
            <a:r>
              <a:rPr lang="en-IN" sz="1800" dirty="0" err="1"/>
              <a:t>Heidari</a:t>
            </a:r>
            <a:r>
              <a:rPr lang="en-IN" sz="1800" dirty="0"/>
              <a:t>, E. </a:t>
            </a:r>
            <a:r>
              <a:rPr lang="en-IN" sz="1800" dirty="0" err="1"/>
              <a:t>Khodapanah</a:t>
            </a:r>
            <a:r>
              <a:rPr lang="en-IN" sz="1800" dirty="0"/>
              <a:t> Aghdam, A. </a:t>
            </a:r>
            <a:r>
              <a:rPr lang="en-IN" sz="1800" dirty="0" err="1"/>
              <a:t>Molaei</a:t>
            </a:r>
            <a:r>
              <a:rPr lang="en-IN" sz="1800" dirty="0"/>
              <a:t>, Y. Jia, A. Jose, R. Roy, and D. </a:t>
            </a:r>
            <a:r>
              <a:rPr lang="en-IN" sz="1800" dirty="0" err="1"/>
              <a:t>Merhof</a:t>
            </a:r>
            <a:r>
              <a:rPr lang="en-IN" sz="1800" dirty="0"/>
              <a:t>, ‘‘Advances in medical image analysis with vision transformers: A comprehensive review,’’ 2023, arXiv:2301.03505. </a:t>
            </a:r>
          </a:p>
          <a:p>
            <a:pPr algn="just">
              <a:lnSpc>
                <a:spcPct val="100000"/>
              </a:lnSpc>
            </a:pPr>
            <a:r>
              <a:rPr lang="en-IN" sz="1800" dirty="0"/>
              <a:t>K. Han, Y. Wang, H. Chen, X. Chen, J. Guo, Z. Liu, Y. Tang, A. Xiao, C. Xu, Y. Xu, Z. Yang, Y. Zhang, and D. Tao, ‘‘A survey on vision transformer,’’ IEEE Trans. Pattern Anal. Mach. </a:t>
            </a:r>
            <a:r>
              <a:rPr lang="en-IN" sz="1800" dirty="0" err="1"/>
              <a:t>Intell</a:t>
            </a:r>
            <a:r>
              <a:rPr lang="en-IN" sz="1800" dirty="0"/>
              <a:t>., vol. 45, no. 1, pp. 87–110, Jan. 2023, </a:t>
            </a:r>
            <a:r>
              <a:rPr lang="en-IN" sz="1800" dirty="0" err="1"/>
              <a:t>doi</a:t>
            </a:r>
            <a:r>
              <a:rPr lang="en-IN" sz="1800" dirty="0"/>
              <a:t>: 10.1109/TPAMI.2022.3152247. </a:t>
            </a:r>
          </a:p>
          <a:p>
            <a:pPr algn="just">
              <a:lnSpc>
                <a:spcPct val="100000"/>
              </a:lnSpc>
            </a:pPr>
            <a:r>
              <a:rPr lang="en-IN" sz="1800" dirty="0"/>
              <a:t>M. Raghu, T. </a:t>
            </a:r>
            <a:r>
              <a:rPr lang="en-IN" sz="1800" dirty="0" err="1"/>
              <a:t>Unterthiner</a:t>
            </a:r>
            <a:r>
              <a:rPr lang="en-IN" sz="1800" dirty="0"/>
              <a:t>, S. </a:t>
            </a:r>
            <a:r>
              <a:rPr lang="en-IN" sz="1800" dirty="0" err="1"/>
              <a:t>Kornblith</a:t>
            </a:r>
            <a:r>
              <a:rPr lang="en-IN" sz="1800" dirty="0"/>
              <a:t>, C. Zhang, and A. </a:t>
            </a:r>
            <a:r>
              <a:rPr lang="en-IN" sz="1800" dirty="0" err="1"/>
              <a:t>Dosovitskiy</a:t>
            </a:r>
            <a:r>
              <a:rPr lang="en-IN" sz="1800" dirty="0"/>
              <a:t>, ‘‘Do vision transformers see like convolutional neural networks?’’ 2021, arXiv:2108.08810.</a:t>
            </a:r>
          </a:p>
          <a:p>
            <a:pPr algn="just">
              <a:lnSpc>
                <a:spcPct val="100000"/>
              </a:lnSpc>
            </a:pPr>
            <a:r>
              <a:rPr lang="en-IN" sz="1800" dirty="0"/>
              <a:t>G. </a:t>
            </a:r>
            <a:r>
              <a:rPr lang="en-IN" sz="1800" dirty="0" err="1"/>
              <a:t>Hcini</a:t>
            </a:r>
            <a:r>
              <a:rPr lang="en-IN" sz="1800" dirty="0"/>
              <a:t>, I. </a:t>
            </a:r>
            <a:r>
              <a:rPr lang="en-IN" sz="1800" dirty="0" err="1"/>
              <a:t>Jdey</a:t>
            </a:r>
            <a:r>
              <a:rPr lang="en-IN" sz="1800" dirty="0"/>
              <a:t>, and H. </a:t>
            </a:r>
            <a:r>
              <a:rPr lang="en-IN" sz="1800" dirty="0" err="1"/>
              <a:t>Dhahri</a:t>
            </a:r>
            <a:r>
              <a:rPr lang="en-IN" sz="1800" dirty="0"/>
              <a:t>, ‘‘Investigating deep learning for early detection and decision-making in Alzheimer’s disease: A comprehensive review,’’ Neural Process. Lett., vol. 56, no. 3, p. 153, Apr. 2024, </a:t>
            </a:r>
            <a:r>
              <a:rPr lang="en-IN" sz="1800" dirty="0" err="1"/>
              <a:t>doi</a:t>
            </a:r>
            <a:r>
              <a:rPr lang="en-IN" sz="1800" dirty="0"/>
              <a:t>: 10.1007/s11063-024-11600-5. </a:t>
            </a:r>
          </a:p>
          <a:p>
            <a:pPr algn="just">
              <a:lnSpc>
                <a:spcPct val="100000"/>
              </a:lnSpc>
            </a:pPr>
            <a:r>
              <a:rPr lang="en-IN" sz="1800" dirty="0"/>
              <a:t>G. M. Hoang, U.-H. Kim, and J. G. Kim, ‘‘Vision transformers for the prediction of mild cognitive impairment to Alzheimer’s disease progression using mid-sagittal </a:t>
            </a:r>
            <a:r>
              <a:rPr lang="en-IN" sz="1800" dirty="0" err="1"/>
              <a:t>sMRI</a:t>
            </a:r>
            <a:r>
              <a:rPr lang="en-IN" sz="1800" dirty="0"/>
              <a:t>,’’ Frontiers Aging </a:t>
            </a:r>
            <a:r>
              <a:rPr lang="en-IN" sz="1800" dirty="0" err="1"/>
              <a:t>Neurosci</a:t>
            </a:r>
            <a:r>
              <a:rPr lang="en-IN" sz="1800" dirty="0"/>
              <a:t>., vol. 15, Apr. 2023, Art. no. 1102869. </a:t>
            </a:r>
          </a:p>
          <a:p>
            <a:pPr algn="just">
              <a:lnSpc>
                <a:spcPct val="100000"/>
              </a:lnSpc>
            </a:pPr>
            <a:r>
              <a:rPr lang="en-IN" sz="1800" dirty="0"/>
              <a:t>H. Shin, S. Jeon, Y. Seol, S. Kim, and D. Kang, ‘‘Vision transformer approach for classification of Alzheimer’s disease using 18F-florbetaben brain images,’’ Appl. Sci., vol. 13, no. 6, p. 3453, Mar. 2023, </a:t>
            </a:r>
            <a:r>
              <a:rPr lang="en-IN" sz="1800" dirty="0" err="1"/>
              <a:t>doi</a:t>
            </a:r>
            <a:r>
              <a:rPr lang="en-IN" sz="1800" dirty="0"/>
              <a:t>: 10.3390/app13063453.</a:t>
            </a:r>
          </a:p>
        </p:txBody>
      </p:sp>
    </p:spTree>
    <p:extLst>
      <p:ext uri="{BB962C8B-B14F-4D97-AF65-F5344CB8AC3E}">
        <p14:creationId xmlns:p14="http://schemas.microsoft.com/office/powerpoint/2010/main" val="3635662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9ED03-264D-CF4F-0C35-020EA5F3B2D4}"/>
              </a:ext>
            </a:extLst>
          </p:cNvPr>
          <p:cNvSpPr>
            <a:spLocks noGrp="1"/>
          </p:cNvSpPr>
          <p:nvPr>
            <p:ph type="title"/>
          </p:nvPr>
        </p:nvSpPr>
        <p:spPr>
          <a:xfrm>
            <a:off x="3786648" y="2766218"/>
            <a:ext cx="4618703" cy="1325563"/>
          </a:xfrm>
        </p:spPr>
        <p:txBody>
          <a:bodyPr>
            <a:normAutofit/>
          </a:bodyPr>
          <a:lstStyle/>
          <a:p>
            <a:r>
              <a:rPr lang="en-IN" sz="5400" b="1" dirty="0"/>
              <a:t>THANK YOU!...</a:t>
            </a:r>
          </a:p>
        </p:txBody>
      </p:sp>
    </p:spTree>
    <p:extLst>
      <p:ext uri="{BB962C8B-B14F-4D97-AF65-F5344CB8AC3E}">
        <p14:creationId xmlns:p14="http://schemas.microsoft.com/office/powerpoint/2010/main" val="28678493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1265</TotalTime>
  <Words>1606</Words>
  <Application>Microsoft Office PowerPoint</Application>
  <PresentationFormat>Widescreen</PresentationFormat>
  <Paragraphs>122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(Body)</vt:lpstr>
      <vt:lpstr>Calibri Light</vt:lpstr>
      <vt:lpstr>TimesLTStd-Roman</vt:lpstr>
      <vt:lpstr>Office Theme</vt:lpstr>
      <vt:lpstr>                ALZHEIMER SYNDROME  RECOGNITION</vt:lpstr>
      <vt:lpstr>OBJECTIVE</vt:lpstr>
      <vt:lpstr>       ABSTRACT</vt:lpstr>
      <vt:lpstr>      LITERATURE SURVEY</vt:lpstr>
      <vt:lpstr>   </vt:lpstr>
      <vt:lpstr>                        EXISTING SYSTEM</vt:lpstr>
      <vt:lpstr>                     PROPOSED SYSTEM</vt:lpstr>
      <vt:lpstr>     FUNCTIONAL DIAGRAM</vt:lpstr>
      <vt:lpstr>   MODULES DESCRIPTION</vt:lpstr>
      <vt:lpstr>    Final Outputs</vt:lpstr>
      <vt:lpstr>PowerPoint Presentation</vt:lpstr>
      <vt:lpstr>PowerPoint Presentation</vt:lpstr>
      <vt:lpstr>    CONCLUSION</vt:lpstr>
      <vt:lpstr>    REFERENCES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Kirthick Sakthi V</dc:creator>
  <cp:lastModifiedBy>Kirthick Sakthi V</cp:lastModifiedBy>
  <cp:revision>27</cp:revision>
  <dcterms:created xsi:type="dcterms:W3CDTF">2024-09-20T14:59:50Z</dcterms:created>
  <dcterms:modified xsi:type="dcterms:W3CDTF">2025-12-04T17:09:42Z</dcterms:modified>
</cp:coreProperties>
</file>